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e3e85d03-e1aa-1b17-d46d-8883bafdcb1f}">
          <p14:sldIdLst>
            <p14:sldId id="256"/>
            <p14:sldId id="257"/>
          </p14:sldIdLst>
        </p14:section>
        <p14:section name="Solution" id="{16ca47c7-ac9d-dd29-e9d8-8143dd69399b}">
          <p14:sldIdLst>
            <p14:sldId id="258"/>
            <p14:sldId id="259"/>
            <p14:sldId id="260"/>
          </p14:sldIdLst>
        </p14:section>
        <p14:section name="Apps" id="{96a91fd9-3c89-a221-fefb-113ccfe91540}">
          <p14:sldIdLst>
            <p14:sldId id="261"/>
            <p14:sldId id="262"/>
            <p14:sldId id="263"/>
            <p14:sldId id="264"/>
          </p14:sldIdLst>
        </p14:section>
        <p14:section name="Delivery" id="{baef3f18-c98a-c55b-5e66-034662e8e0e3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Enterprise PSA: timesheets, budgets and invoices for a services company, built only with SAP technology on the BTP free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0"/>
            <a:ext cx="4480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103120"/>
            <a:ext cx="4206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Enterprise PSA · SAP CAP +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Enterprise PSA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Professional Services Automation on SAP BTP</a:t>
            </a:r>
            <a:endParaRPr lang="en-US" sz="1600" dirty="0"/>
          </a:p>
        </p:txBody>
      </p:sp>
      <p:sp>
        <p:nvSpPr>
          <p:cNvPr id="4" name="pill SAP CAP"/>
          <p:cNvSpPr/>
          <p:nvPr/>
        </p:nvSpPr>
        <p:spPr>
          <a:xfrm>
            <a:off x="457200" y="2971800"/>
            <a:ext cx="9144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9718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SAP CAP</a:t>
            </a:r>
            <a:endParaRPr lang="en-US" sz="1100" dirty="0"/>
          </a:p>
        </p:txBody>
      </p:sp>
      <p:sp>
        <p:nvSpPr>
          <p:cNvPr id="6" name="pill HANA Cloud"/>
          <p:cNvSpPr/>
          <p:nvPr/>
        </p:nvSpPr>
        <p:spPr>
          <a:xfrm>
            <a:off x="1463040" y="2971800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63040" y="297180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HANA Cloud</a:t>
            </a:r>
            <a:endParaRPr lang="en-US" sz="1100" dirty="0"/>
          </a:p>
        </p:txBody>
      </p:sp>
      <p:sp>
        <p:nvSpPr>
          <p:cNvPr id="8" name="pill Fiori Elements"/>
          <p:cNvSpPr/>
          <p:nvPr/>
        </p:nvSpPr>
        <p:spPr>
          <a:xfrm>
            <a:off x="2697480" y="2971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97480" y="2971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Fiori Elements</a:t>
            </a:r>
            <a:endParaRPr lang="en-US" sz="1100" dirty="0"/>
          </a:p>
        </p:txBody>
      </p:sp>
      <p:sp>
        <p:nvSpPr>
          <p:cNvPr id="10" name="pill XSUAA"/>
          <p:cNvSpPr/>
          <p:nvPr/>
        </p:nvSpPr>
        <p:spPr>
          <a:xfrm>
            <a:off x="457200" y="3392424"/>
            <a:ext cx="9144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3924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XSUAA</a:t>
            </a:r>
            <a:endParaRPr lang="en-US" sz="1100" dirty="0"/>
          </a:p>
        </p:txBody>
      </p:sp>
      <p:sp>
        <p:nvSpPr>
          <p:cNvPr id="12" name="pill SAP CI/CD"/>
          <p:cNvSpPr/>
          <p:nvPr/>
        </p:nvSpPr>
        <p:spPr>
          <a:xfrm>
            <a:off x="1463040" y="3392424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63040" y="33924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SAP CI/CD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343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Saurabh Pandey · Sprint Evaluation</a:t>
            </a:r>
            <a:endParaRPr lang="en-US" sz="1200" dirty="0"/>
          </a:p>
        </p:txBody>
      </p:sp>
      <p:sp>
        <p:nvSpPr>
          <p:cNvPr id="15" name="Manager Home screenshot frame"/>
          <p:cNvSpPr/>
          <p:nvPr/>
        </p:nvSpPr>
        <p:spPr>
          <a:xfrm>
            <a:off x="4983480" y="960120"/>
            <a:ext cx="3749040" cy="2249424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16" name="Manager Home screenshot" descr="Manager Hom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0912" y="987552"/>
            <a:ext cx="3694176" cy="21945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9834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Manager Home – Analytical List Page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Problem → Solution</a:t>
            </a:r>
            <a:endParaRPr lang="en-US" sz="3000" dirty="0"/>
          </a:p>
        </p:txBody>
      </p:sp>
      <p:sp>
        <p:nvSpPr>
          <p:cNvPr id="3" name="card Scope creep"/>
          <p:cNvSpPr/>
          <p:nvPr/>
        </p:nvSpPr>
        <p:spPr>
          <a:xfrm>
            <a:off x="457200" y="114300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4" name="Scope creep icon circle"/>
          <p:cNvSpPr/>
          <p:nvPr/>
        </p:nvSpPr>
        <p:spPr>
          <a:xfrm>
            <a:off x="731520" y="1371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cope creep icon" descr="Scope cree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5361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Scope creep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5786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Tasks burn hours unseen</a:t>
            </a:r>
            <a:endParaRPr lang="en-US" sz="1300" dirty="0"/>
          </a:p>
        </p:txBody>
      </p:sp>
      <p:sp>
        <p:nvSpPr>
          <p:cNvPr id="8" name="down arrow"/>
          <p:cNvSpPr/>
          <p:nvPr/>
        </p:nvSpPr>
        <p:spPr>
          <a:xfrm>
            <a:off x="731520" y="31546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Task burn % and alerts at 75 / 90 / 100 %</a:t>
            </a:r>
            <a:endParaRPr lang="en-US" sz="1300" dirty="0"/>
          </a:p>
        </p:txBody>
      </p:sp>
      <p:sp>
        <p:nvSpPr>
          <p:cNvPr id="10" name="card No real-time tracking"/>
          <p:cNvSpPr/>
          <p:nvPr/>
        </p:nvSpPr>
        <p:spPr>
          <a:xfrm>
            <a:off x="3291840" y="114300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1" name="No real-time tracking icon circle"/>
          <p:cNvSpPr/>
          <p:nvPr/>
        </p:nvSpPr>
        <p:spPr>
          <a:xfrm>
            <a:off x="3566160" y="1371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No real-time tracking icon" descr="No real-time track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52" y="153619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real-time tracking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5786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Budget known at month end</a:t>
            </a:r>
            <a:endParaRPr lang="en-US" sz="1300" dirty="0"/>
          </a:p>
        </p:txBody>
      </p:sp>
      <p:sp>
        <p:nvSpPr>
          <p:cNvPr id="15" name="down arrow"/>
          <p:cNvSpPr/>
          <p:nvPr/>
        </p:nvSpPr>
        <p:spPr>
          <a:xfrm>
            <a:off x="3566160" y="31546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3566160" y="35661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Approval rolls up instantly: task → milestone → project → budget</a:t>
            </a:r>
            <a:endParaRPr lang="en-US" sz="1300" dirty="0"/>
          </a:p>
        </p:txBody>
      </p:sp>
      <p:sp>
        <p:nvSpPr>
          <p:cNvPr id="17" name="card Spreadsheet billing"/>
          <p:cNvSpPr/>
          <p:nvPr/>
        </p:nvSpPr>
        <p:spPr>
          <a:xfrm>
            <a:off x="6126480" y="114300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8" name="Spreadsheet billing icon circle"/>
          <p:cNvSpPr/>
          <p:nvPr/>
        </p:nvSpPr>
        <p:spPr>
          <a:xfrm>
            <a:off x="6400800" y="1371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Spreadsheet billing icon" descr="Spreadsheet billing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153619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0080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Spreadsheet billing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25786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Invoices built by hand</a:t>
            </a:r>
            <a:endParaRPr lang="en-US" sz="1300" dirty="0"/>
          </a:p>
        </p:txBody>
      </p:sp>
      <p:sp>
        <p:nvSpPr>
          <p:cNvPr id="22" name="down arrow"/>
          <p:cNvSpPr/>
          <p:nvPr/>
        </p:nvSpPr>
        <p:spPr>
          <a:xfrm>
            <a:off x="6400800" y="31546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Text 18"/>
          <p:cNvSpPr txBox="1"/>
          <p:nvPr/>
        </p:nvSpPr>
        <p:spPr>
          <a:xfrm>
            <a:off x="6400800" y="35661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Invoices from approved billable hours: T&amp;M, Fixed, Retainer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</a:t>
            </a:r>
            <a:endParaRPr lang="en-US" sz="3000" dirty="0"/>
          </a:p>
        </p:txBody>
      </p:sp>
      <p:sp>
        <p:nvSpPr>
          <p:cNvPr id="3" name="tier Fiori Launchpad"/>
          <p:cNvSpPr/>
          <p:nvPr/>
        </p:nvSpPr>
        <p:spPr>
          <a:xfrm>
            <a:off x="45720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4" name="Fiori Launchpad icon circle"/>
          <p:cNvSpPr/>
          <p:nvPr/>
        </p:nvSpPr>
        <p:spPr>
          <a:xfrm>
            <a:off x="1005840" y="1280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iori Launchpad icon" descr="Fiori Launchpa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144475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Fiori Launchpad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9 Fiori Elements apps</a:t>
            </a:r>
            <a:endParaRPr lang="en-US" sz="1100" dirty="0"/>
          </a:p>
        </p:txBody>
      </p:sp>
      <p:sp>
        <p:nvSpPr>
          <p:cNvPr id="8" name="arrow"/>
          <p:cNvSpPr/>
          <p:nvPr/>
        </p:nvSpPr>
        <p:spPr>
          <a:xfrm>
            <a:off x="2286000" y="198424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tier Approuter"/>
          <p:cNvSpPr/>
          <p:nvPr/>
        </p:nvSpPr>
        <p:spPr>
          <a:xfrm>
            <a:off x="260604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0" name="Approuter icon circle"/>
          <p:cNvSpPr/>
          <p:nvPr/>
        </p:nvSpPr>
        <p:spPr>
          <a:xfrm>
            <a:off x="3154680" y="1280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pprouter icon" descr="Approut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144475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9748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Approuter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69748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XSUAA login · app/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4434840" y="198424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tier CAP Node.js"/>
          <p:cNvSpPr/>
          <p:nvPr/>
        </p:nvSpPr>
        <p:spPr>
          <a:xfrm>
            <a:off x="475488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6" name="CAP Node.js icon circle"/>
          <p:cNvSpPr/>
          <p:nvPr/>
        </p:nvSpPr>
        <p:spPr>
          <a:xfrm>
            <a:off x="5303520" y="1280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CAP Node.js icon" descr="CAP Node.j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44475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CAP Node.js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OData V4 · rules · srv/</a:t>
            </a:r>
            <a:endParaRPr lang="en-US" sz="1100" dirty="0"/>
          </a:p>
        </p:txBody>
      </p:sp>
      <p:sp>
        <p:nvSpPr>
          <p:cNvPr id="20" name="arrow"/>
          <p:cNvSpPr/>
          <p:nvPr/>
        </p:nvSpPr>
        <p:spPr>
          <a:xfrm>
            <a:off x="6583680" y="198424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tier SAP HANA Cloud"/>
          <p:cNvSpPr/>
          <p:nvPr/>
        </p:nvSpPr>
        <p:spPr>
          <a:xfrm>
            <a:off x="690372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2" name="SAP HANA Cloud icon circle"/>
          <p:cNvSpPr/>
          <p:nvPr/>
        </p:nvSpPr>
        <p:spPr>
          <a:xfrm>
            <a:off x="7452360" y="1280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SAP HANA Cloud icon" descr="SAP HANA Clou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1444752"/>
            <a:ext cx="356616" cy="3566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9516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SAP HANA Cloud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99516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HDI container · db/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45720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</a:t>
            </a:r>
            <a:endParaRPr lang="en-US" sz="4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Fiori apps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260604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42</a:t>
            </a:r>
            <a:endParaRPr lang="en-US" sz="4400" dirty="0"/>
          </a:p>
        </p:txBody>
      </p:sp>
      <p:sp>
        <p:nvSpPr>
          <p:cNvPr id="29" name="Text 23"/>
          <p:cNvSpPr txBox="1"/>
          <p:nvPr/>
        </p:nvSpPr>
        <p:spPr>
          <a:xfrm>
            <a:off x="260604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automated tests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475488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</a:t>
            </a:r>
            <a:endParaRPr lang="en-US" sz="4400" dirty="0"/>
          </a:p>
        </p:txBody>
      </p:sp>
      <p:sp>
        <p:nvSpPr>
          <p:cNvPr id="31" name="Text 25"/>
          <p:cNvSpPr txBox="1"/>
          <p:nvPr/>
        </p:nvSpPr>
        <p:spPr>
          <a:xfrm>
            <a:off x="475488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roles: Admin, User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690372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</a:t>
            </a:r>
            <a:endParaRPr lang="en-US" sz="4400" dirty="0"/>
          </a:p>
        </p:txBody>
      </p:sp>
      <p:sp>
        <p:nvSpPr>
          <p:cNvPr id="33" name="Text 27"/>
          <p:cNvSpPr txBox="1"/>
          <p:nvPr/>
        </p:nvSpPr>
        <p:spPr>
          <a:xfrm>
            <a:off x="690372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languages EN · DE · HI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Only SAP technology · BTP free tier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Data model and project skeleton</a:t>
            </a:r>
            <a:endParaRPr lang="en-US" sz="3000" dirty="0"/>
          </a:p>
        </p:txBody>
      </p:sp>
      <p:sp>
        <p:nvSpPr>
          <p:cNvPr id="3" name="relation"/>
          <p:cNvSpPr/>
          <p:nvPr/>
        </p:nvSpPr>
        <p:spPr>
          <a:xfrm>
            <a:off x="1828800" y="144018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4" name="relation"/>
          <p:cNvSpPr/>
          <p:nvPr/>
        </p:nvSpPr>
        <p:spPr>
          <a:xfrm>
            <a:off x="3566160" y="144018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5" name="relation"/>
          <p:cNvSpPr/>
          <p:nvPr/>
        </p:nvSpPr>
        <p:spPr>
          <a:xfrm>
            <a:off x="2880360" y="1691640"/>
            <a:ext cx="0" cy="3657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6" name="relation"/>
          <p:cNvSpPr/>
          <p:nvPr/>
        </p:nvSpPr>
        <p:spPr>
          <a:xfrm>
            <a:off x="2880360" y="2560320"/>
            <a:ext cx="0" cy="3657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7" name="relation"/>
          <p:cNvSpPr/>
          <p:nvPr/>
        </p:nvSpPr>
        <p:spPr>
          <a:xfrm flipV="1">
            <a:off x="1828800" y="2148840"/>
            <a:ext cx="365760" cy="27432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8" name="relation"/>
          <p:cNvSpPr/>
          <p:nvPr/>
        </p:nvSpPr>
        <p:spPr>
          <a:xfrm>
            <a:off x="3566160" y="1600200"/>
            <a:ext cx="365760" cy="54864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9" name="relation"/>
          <p:cNvSpPr/>
          <p:nvPr/>
        </p:nvSpPr>
        <p:spPr>
          <a:xfrm>
            <a:off x="3566160" y="317754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0" name="relation"/>
          <p:cNvSpPr/>
          <p:nvPr/>
        </p:nvSpPr>
        <p:spPr>
          <a:xfrm>
            <a:off x="4617720" y="3429000"/>
            <a:ext cx="0" cy="3657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1" name="relation"/>
          <p:cNvSpPr/>
          <p:nvPr/>
        </p:nvSpPr>
        <p:spPr>
          <a:xfrm>
            <a:off x="3566160" y="404622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2" name="entity Client"/>
          <p:cNvSpPr/>
          <p:nvPr/>
        </p:nvSpPr>
        <p:spPr>
          <a:xfrm>
            <a:off x="457200" y="118872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188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Client</a:t>
            </a:r>
            <a:endParaRPr lang="en-US" sz="1300" dirty="0"/>
          </a:p>
        </p:txBody>
      </p:sp>
      <p:sp>
        <p:nvSpPr>
          <p:cNvPr id="14" name="entity Project"/>
          <p:cNvSpPr/>
          <p:nvPr/>
        </p:nvSpPr>
        <p:spPr>
          <a:xfrm>
            <a:off x="2194560" y="118872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94560" y="1188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Project</a:t>
            </a:r>
            <a:endParaRPr lang="en-US" sz="1300" dirty="0"/>
          </a:p>
        </p:txBody>
      </p:sp>
      <p:sp>
        <p:nvSpPr>
          <p:cNvPr id="16" name="entity Budget (1:1)"/>
          <p:cNvSpPr/>
          <p:nvPr/>
        </p:nvSpPr>
        <p:spPr>
          <a:xfrm>
            <a:off x="3931920" y="118872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1188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Budget (1:1)</a:t>
            </a:r>
            <a:endParaRPr lang="en-US" sz="1300" dirty="0"/>
          </a:p>
        </p:txBody>
      </p:sp>
      <p:sp>
        <p:nvSpPr>
          <p:cNvPr id="18" name="entity Invoice"/>
          <p:cNvSpPr/>
          <p:nvPr/>
        </p:nvSpPr>
        <p:spPr>
          <a:xfrm>
            <a:off x="457200" y="205740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Invoice</a:t>
            </a:r>
            <a:endParaRPr lang="en-US" sz="1300" dirty="0"/>
          </a:p>
        </p:txBody>
      </p:sp>
      <p:sp>
        <p:nvSpPr>
          <p:cNvPr id="20" name="entity Milestone"/>
          <p:cNvSpPr/>
          <p:nvPr/>
        </p:nvSpPr>
        <p:spPr>
          <a:xfrm>
            <a:off x="2194560" y="205740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9456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Milestone</a:t>
            </a:r>
            <a:endParaRPr lang="en-US" sz="1300" dirty="0"/>
          </a:p>
        </p:txBody>
      </p:sp>
      <p:sp>
        <p:nvSpPr>
          <p:cNvPr id="22" name="entity Alert"/>
          <p:cNvSpPr/>
          <p:nvPr/>
        </p:nvSpPr>
        <p:spPr>
          <a:xfrm>
            <a:off x="3931920" y="205740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Alert</a:t>
            </a:r>
            <a:endParaRPr lang="en-US" sz="1300" dirty="0"/>
          </a:p>
        </p:txBody>
      </p:sp>
      <p:sp>
        <p:nvSpPr>
          <p:cNvPr id="24" name="entity Task"/>
          <p:cNvSpPr/>
          <p:nvPr/>
        </p:nvSpPr>
        <p:spPr>
          <a:xfrm>
            <a:off x="2194560" y="292608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9456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Task</a:t>
            </a:r>
            <a:endParaRPr lang="en-US" sz="1300" dirty="0"/>
          </a:p>
        </p:txBody>
      </p:sp>
      <p:sp>
        <p:nvSpPr>
          <p:cNvPr id="26" name="entity Time Entry"/>
          <p:cNvSpPr/>
          <p:nvPr/>
        </p:nvSpPr>
        <p:spPr>
          <a:xfrm>
            <a:off x="3931920" y="292608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3192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Time Entry</a:t>
            </a:r>
            <a:endParaRPr lang="en-US" sz="1300" dirty="0"/>
          </a:p>
        </p:txBody>
      </p:sp>
      <p:sp>
        <p:nvSpPr>
          <p:cNvPr id="28" name="entity Employee"/>
          <p:cNvSpPr/>
          <p:nvPr/>
        </p:nvSpPr>
        <p:spPr>
          <a:xfrm>
            <a:off x="2194560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94560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Employee</a:t>
            </a:r>
            <a:endParaRPr lang="en-US" sz="1300" dirty="0"/>
          </a:p>
        </p:txBody>
      </p:sp>
      <p:sp>
        <p:nvSpPr>
          <p:cNvPr id="30" name="entity Timesheet"/>
          <p:cNvSpPr/>
          <p:nvPr/>
        </p:nvSpPr>
        <p:spPr>
          <a:xfrm>
            <a:off x="3931920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931920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Timesheet</a:t>
            </a:r>
            <a:endParaRPr lang="en-US" sz="1300" dirty="0"/>
          </a:p>
        </p:txBody>
      </p:sp>
      <p:sp>
        <p:nvSpPr>
          <p:cNvPr id="32" name="pill master"/>
          <p:cNvSpPr/>
          <p:nvPr/>
        </p:nvSpPr>
        <p:spPr>
          <a:xfrm>
            <a:off x="457200" y="3063240"/>
            <a:ext cx="868680" cy="32918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3063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master</a:t>
            </a:r>
            <a:endParaRPr lang="en-US" sz="1000" dirty="0"/>
          </a:p>
        </p:txBody>
      </p:sp>
      <p:sp>
        <p:nvSpPr>
          <p:cNvPr id="34" name="pill transaction"/>
          <p:cNvSpPr/>
          <p:nvPr/>
        </p:nvSpPr>
        <p:spPr>
          <a:xfrm>
            <a:off x="457200" y="3474720"/>
            <a:ext cx="86868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7200" y="34747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transaction</a:t>
            </a:r>
            <a:endParaRPr lang="en-US" sz="1000" dirty="0"/>
          </a:p>
        </p:txBody>
      </p:sp>
      <p:sp>
        <p:nvSpPr>
          <p:cNvPr id="36" name="skeleton card"/>
          <p:cNvSpPr/>
          <p:nvPr/>
        </p:nvSpPr>
        <p:spPr>
          <a:xfrm>
            <a:off x="5760720" y="1188720"/>
            <a:ext cx="2926080" cy="310896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0" y="12984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Same skeleton as the sample repo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0" y="1691640"/>
            <a:ext cx="2651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app/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approuter · services.cds · 9 apps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db/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schema.cds · CDSView.cds · i18n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srv/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service.cds · service.js · test.http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root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mta.yaml · xs-security.json · .pipeline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Roles, security and launchpad</a:t>
            </a:r>
            <a:endParaRPr lang="en-US" sz="3000" dirty="0"/>
          </a:p>
        </p:txBody>
      </p:sp>
      <p:sp>
        <p:nvSpPr>
          <p:cNvPr id="3" name="Admin launchpad tiles frame"/>
          <p:cNvSpPr/>
          <p:nvPr/>
        </p:nvSpPr>
        <p:spPr>
          <a:xfrm>
            <a:off x="457200" y="1143000"/>
            <a:ext cx="5120640" cy="177393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Admin launchpad tiles" descr="Admin launchpad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170432"/>
            <a:ext cx="5065776" cy="17190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Admin: 9 apps, starts on Manager Home</a:t>
            </a:r>
            <a:endParaRPr lang="en-US" sz="1100" dirty="0"/>
          </a:p>
        </p:txBody>
      </p:sp>
      <p:sp>
        <p:nvSpPr>
          <p:cNvPr id="6" name="User launchpad tile frame"/>
          <p:cNvSpPr/>
          <p:nvPr/>
        </p:nvSpPr>
        <p:spPr>
          <a:xfrm>
            <a:off x="457200" y="3383280"/>
            <a:ext cx="1783080" cy="10789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7" name="User launchpad tile" descr="User launchpad t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3410712"/>
            <a:ext cx="1728216" cy="102412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423160" y="36118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User: only My Timesheets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server returns no other data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897880" y="114300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XSUAA role collections PSA_Admin / PSA_User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Row-level: own timesheets only ($user)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self-approval · locked after submit</a:t>
            </a:r>
            <a:endParaRPr lang="en-US" sz="1200" dirty="0"/>
          </a:p>
        </p:txBody>
      </p:sp>
      <p:sp>
        <p:nvSpPr>
          <p:cNvPr id="10" name="Clients app in German frame"/>
          <p:cNvSpPr/>
          <p:nvPr/>
        </p:nvSpPr>
        <p:spPr>
          <a:xfrm>
            <a:off x="5897880" y="2697480"/>
            <a:ext cx="2788920" cy="16733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11" name="Clients app in German" descr="Clients app in Ger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2724912"/>
            <a:ext cx="2734056" cy="161848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97880" y="44348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Labels from db/i18n: EN · DE · HI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Manager Home – Analytical List Page</a:t>
            </a:r>
            <a:endParaRPr lang="en-US" sz="3000" dirty="0"/>
          </a:p>
        </p:txBody>
      </p:sp>
      <p:sp>
        <p:nvSpPr>
          <p:cNvPr id="3" name="Manager Home screenshot frame"/>
          <p:cNvSpPr/>
          <p:nvPr/>
        </p:nvSpPr>
        <p:spPr>
          <a:xfrm>
            <a:off x="457200" y="1097280"/>
            <a:ext cx="5577840" cy="3346704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Manager Home screenshot" descr="Manager Hom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124712"/>
            <a:ext cx="5522976" cy="3291840"/>
          </a:xfrm>
          <a:prstGeom prst="rect">
            <a:avLst/>
          </a:prstGeom>
        </p:spPr>
      </p:pic>
      <p:sp>
        <p:nvSpPr>
          <p:cNvPr id="5" name="pill KPI · Active Projects"/>
          <p:cNvSpPr/>
          <p:nvPr/>
        </p:nvSpPr>
        <p:spPr>
          <a:xfrm>
            <a:off x="6355080" y="1143000"/>
            <a:ext cx="233172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355080" y="11430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KPI · Active Projects</a:t>
            </a:r>
            <a:endParaRPr lang="en-US" sz="1100" dirty="0"/>
          </a:p>
        </p:txBody>
      </p:sp>
      <p:sp>
        <p:nvSpPr>
          <p:cNvPr id="7" name="pill KPI · At-Risk Budgets"/>
          <p:cNvSpPr/>
          <p:nvPr/>
        </p:nvSpPr>
        <p:spPr>
          <a:xfrm>
            <a:off x="6355080" y="1600200"/>
            <a:ext cx="23317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55080" y="1600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KPI · At-Risk Budgets</a:t>
            </a:r>
            <a:endParaRPr lang="en-US" sz="1100" dirty="0"/>
          </a:p>
        </p:txBody>
      </p:sp>
      <p:sp>
        <p:nvSpPr>
          <p:cNvPr id="9" name="pill KPI · Pending Approvals"/>
          <p:cNvSpPr/>
          <p:nvPr/>
        </p:nvSpPr>
        <p:spPr>
          <a:xfrm>
            <a:off x="6355080" y="2057400"/>
            <a:ext cx="233172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55080" y="20574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KPI · Pending Approvals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260604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Chart: budget vs consumed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Filters: client, billing type, status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Row → project details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Buttons to every 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Timesheets → approval → roll-up</a:t>
            </a:r>
            <a:endParaRPr lang="en-US" sz="3000" dirty="0"/>
          </a:p>
        </p:txBody>
      </p:sp>
      <p:sp>
        <p:nvSpPr>
          <p:cNvPr id="3" name="step Log hours"/>
          <p:cNvSpPr/>
          <p:nvPr/>
        </p:nvSpPr>
        <p:spPr>
          <a:xfrm>
            <a:off x="457200" y="1051560"/>
            <a:ext cx="1627632" cy="4114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21792" y="1051560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Log hours</a:t>
            </a:r>
            <a:endParaRPr lang="en-US" sz="1200" dirty="0"/>
          </a:p>
        </p:txBody>
      </p:sp>
      <p:sp>
        <p:nvSpPr>
          <p:cNvPr id="5" name="step Submit"/>
          <p:cNvSpPr/>
          <p:nvPr/>
        </p:nvSpPr>
        <p:spPr>
          <a:xfrm>
            <a:off x="2121408" y="1051560"/>
            <a:ext cx="1627632" cy="4114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286000" y="1051560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Submit</a:t>
            </a:r>
            <a:endParaRPr lang="en-US" sz="1200" dirty="0"/>
          </a:p>
        </p:txBody>
      </p:sp>
      <p:sp>
        <p:nvSpPr>
          <p:cNvPr id="7" name="step Approve"/>
          <p:cNvSpPr/>
          <p:nvPr/>
        </p:nvSpPr>
        <p:spPr>
          <a:xfrm>
            <a:off x="3785616" y="1051560"/>
            <a:ext cx="1627632" cy="4114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950208" y="1051560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Approve</a:t>
            </a:r>
            <a:endParaRPr lang="en-US" sz="1200" dirty="0"/>
          </a:p>
        </p:txBody>
      </p:sp>
      <p:sp>
        <p:nvSpPr>
          <p:cNvPr id="9" name="step Budget roll-up"/>
          <p:cNvSpPr/>
          <p:nvPr/>
        </p:nvSpPr>
        <p:spPr>
          <a:xfrm>
            <a:off x="5449824" y="1051560"/>
            <a:ext cx="1627632" cy="4114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14416" y="1051560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Budget roll-up</a:t>
            </a:r>
            <a:endParaRPr lang="en-US" sz="1200" dirty="0"/>
          </a:p>
        </p:txBody>
      </p:sp>
      <p:sp>
        <p:nvSpPr>
          <p:cNvPr id="11" name="step Alerts"/>
          <p:cNvSpPr/>
          <p:nvPr/>
        </p:nvSpPr>
        <p:spPr>
          <a:xfrm>
            <a:off x="7114032" y="1051560"/>
            <a:ext cx="1627632" cy="4114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78624" y="1051560"/>
            <a:ext cx="129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Alerts</a:t>
            </a:r>
            <a:endParaRPr lang="en-US" sz="1200" dirty="0"/>
          </a:p>
        </p:txBody>
      </p:sp>
      <p:sp>
        <p:nvSpPr>
          <p:cNvPr id="13" name="My Timesheets screenshot frame"/>
          <p:cNvSpPr/>
          <p:nvPr/>
        </p:nvSpPr>
        <p:spPr>
          <a:xfrm>
            <a:off x="457200" y="1691640"/>
            <a:ext cx="3977640" cy="2386584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14" name="My Timesheets screenshot" descr="My Timesheet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922776" cy="2331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457200" y="41605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User: daily rows, Import Hours, ≤ 24 h/day</a:t>
            </a:r>
            <a:endParaRPr lang="en-US" sz="1100" dirty="0"/>
          </a:p>
        </p:txBody>
      </p:sp>
      <p:sp>
        <p:nvSpPr>
          <p:cNvPr id="16" name="Approve Timesheets screenshot frame"/>
          <p:cNvSpPr/>
          <p:nvPr/>
        </p:nvSpPr>
        <p:spPr>
          <a:xfrm>
            <a:off x="4709160" y="1691640"/>
            <a:ext cx="3977640" cy="1645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17" name="Approve Timesheets screenshot" descr="Approve Timesheets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719072"/>
            <a:ext cx="3922776" cy="159105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709160" y="34290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Admin: Approve / Reject in the header or the list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709160" y="37947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Hours update task, milestone, project, budget at once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One alert per threshold crossing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Projects – budget, milestones, tasks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834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Edit project + budget + milestones + tasks in one draft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Budget used &amp; hours used progress bars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Burn rate and projected completion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Tabs: timesheets, alerts, invoices, change log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Recalculate Budget action</a:t>
            </a:r>
            <a:endParaRPr lang="en-US" sz="1300" dirty="0"/>
          </a:p>
        </p:txBody>
      </p:sp>
      <p:sp>
        <p:nvSpPr>
          <p:cNvPr id="4" name="Projects screenshot frame"/>
          <p:cNvSpPr/>
          <p:nvPr/>
        </p:nvSpPr>
        <p:spPr>
          <a:xfrm>
            <a:off x="3520440" y="1097280"/>
            <a:ext cx="5166360" cy="309981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Projects screenshot" descr="Project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47872" y="1124712"/>
            <a:ext cx="5111496" cy="30449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20440" y="427939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List and details side by side (flexible column layout)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Billing Workbench, settings and audit</a:t>
            </a:r>
            <a:endParaRPr lang="en-US" sz="3000" dirty="0"/>
          </a:p>
        </p:txBody>
      </p:sp>
      <p:sp>
        <p:nvSpPr>
          <p:cNvPr id="3" name="Billing Workbench screenshot frame"/>
          <p:cNvSpPr/>
          <p:nvPr/>
        </p:nvSpPr>
        <p:spPr>
          <a:xfrm>
            <a:off x="457200" y="1097280"/>
            <a:ext cx="5029200" cy="30175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Billing Workbench screenshot" descr="Billing Workbench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124712"/>
            <a:ext cx="4974336" cy="29626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206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KPIs: Unbilled Hours · Draft Invoices · Overdue Amount</a:t>
            </a:r>
            <a:endParaRPr lang="en-US" sz="1100" dirty="0"/>
          </a:p>
        </p:txBody>
      </p:sp>
      <p:sp>
        <p:nvSpPr>
          <p:cNvPr id="6" name="pill Draft"/>
          <p:cNvSpPr/>
          <p:nvPr/>
        </p:nvSpPr>
        <p:spPr>
          <a:xfrm>
            <a:off x="5806440" y="114300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806440" y="11430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Draft</a:t>
            </a:r>
            <a:endParaRPr lang="en-US" sz="1200" dirty="0"/>
          </a:p>
        </p:txBody>
      </p:sp>
      <p:sp>
        <p:nvSpPr>
          <p:cNvPr id="8" name="arrow"/>
          <p:cNvSpPr/>
          <p:nvPr/>
        </p:nvSpPr>
        <p:spPr>
          <a:xfrm>
            <a:off x="6638544" y="1307592"/>
            <a:ext cx="1371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pill Issued"/>
          <p:cNvSpPr/>
          <p:nvPr/>
        </p:nvSpPr>
        <p:spPr>
          <a:xfrm>
            <a:off x="6784848" y="114300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84848" y="11430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Issued</a:t>
            </a:r>
            <a:endParaRPr lang="en-US" sz="1200" dirty="0"/>
          </a:p>
        </p:txBody>
      </p:sp>
      <p:sp>
        <p:nvSpPr>
          <p:cNvPr id="11" name="arrow"/>
          <p:cNvSpPr/>
          <p:nvPr/>
        </p:nvSpPr>
        <p:spPr>
          <a:xfrm>
            <a:off x="7616952" y="1307592"/>
            <a:ext cx="1371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pill Paid"/>
          <p:cNvSpPr/>
          <p:nvPr/>
        </p:nvSpPr>
        <p:spPr>
          <a:xfrm>
            <a:off x="7763256" y="114300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63256" y="11430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Paid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1737360"/>
            <a:ext cx="2880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Cancel → hours billable again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Overdue = issued and past due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T&amp;M · Fixed (capped) · Retainer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Tax % and payment days in Settings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change in the Audit Log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Delivery and CI/CD</a:t>
            </a:r>
            <a:endParaRPr lang="en-US" sz="3000" dirty="0"/>
          </a:p>
        </p:txBody>
      </p:sp>
      <p:sp>
        <p:nvSpPr>
          <p:cNvPr id="3" name="Push / merge icon circle"/>
          <p:cNvSpPr/>
          <p:nvPr/>
        </p:nvSpPr>
        <p:spPr>
          <a:xfrm>
            <a:off x="82296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ush / merge icon" descr="Push / merg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318565"/>
            <a:ext cx="380390" cy="3803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Push / merge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to main</a:t>
            </a:r>
            <a:endParaRPr lang="en-US" sz="1100" dirty="0"/>
          </a:p>
        </p:txBody>
      </p:sp>
      <p:sp>
        <p:nvSpPr>
          <p:cNvPr id="7" name="arrow"/>
          <p:cNvSpPr/>
          <p:nvPr/>
        </p:nvSpPr>
        <p:spPr>
          <a:xfrm>
            <a:off x="167335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SAP CI/CD icon circle"/>
          <p:cNvSpPr/>
          <p:nvPr/>
        </p:nvSpPr>
        <p:spPr>
          <a:xfrm>
            <a:off x="256032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SAP CI/CD icon" descr="SAP CI/C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885" y="131856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9456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SAP CI/CD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219456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webhook job</a:t>
            </a:r>
            <a:endParaRPr lang="en-US" sz="1100" dirty="0"/>
          </a:p>
        </p:txBody>
      </p:sp>
      <p:sp>
        <p:nvSpPr>
          <p:cNvPr id="12" name="arrow"/>
          <p:cNvSpPr/>
          <p:nvPr/>
        </p:nvSpPr>
        <p:spPr>
          <a:xfrm>
            <a:off x="341071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mbt build icon circle"/>
          <p:cNvSpPr/>
          <p:nvPr/>
        </p:nvSpPr>
        <p:spPr>
          <a:xfrm>
            <a:off x="429768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mbt build icon" descr="mbt buil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245" y="1318565"/>
            <a:ext cx="380390" cy="38039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93192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mbt build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93192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MTA archive</a:t>
            </a:r>
            <a:endParaRPr lang="en-US" sz="1100" dirty="0"/>
          </a:p>
        </p:txBody>
      </p:sp>
      <p:sp>
        <p:nvSpPr>
          <p:cNvPr id="17" name="arrow"/>
          <p:cNvSpPr/>
          <p:nvPr/>
        </p:nvSpPr>
        <p:spPr>
          <a:xfrm>
            <a:off x="514807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npm test icon circle"/>
          <p:cNvSpPr/>
          <p:nvPr/>
        </p:nvSpPr>
        <p:spPr>
          <a:xfrm>
            <a:off x="603504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npm test icon" descr="npm tes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605" y="1318565"/>
            <a:ext cx="380390" cy="38039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66928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npm test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66928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42 tests</a:t>
            </a:r>
            <a:endParaRPr lang="en-US" sz="1100" dirty="0"/>
          </a:p>
        </p:txBody>
      </p:sp>
      <p:sp>
        <p:nvSpPr>
          <p:cNvPr id="22" name="arrow"/>
          <p:cNvSpPr/>
          <p:nvPr/>
        </p:nvSpPr>
        <p:spPr>
          <a:xfrm>
            <a:off x="688543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cf deploy icon circle"/>
          <p:cNvSpPr/>
          <p:nvPr/>
        </p:nvSpPr>
        <p:spPr>
          <a:xfrm>
            <a:off x="7772400" y="1143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cf deploy icon" descr="cf deploy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7965" y="1318565"/>
            <a:ext cx="380390" cy="38039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40664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cf deploy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40664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Cloud Foundry</a:t>
            </a:r>
            <a:endParaRPr lang="en-US" sz="1100" dirty="0"/>
          </a:p>
        </p:txBody>
      </p:sp>
      <p:sp>
        <p:nvSpPr>
          <p:cNvPr id="27" name="module psa-application-ui"/>
          <p:cNvSpPr/>
          <p:nvPr/>
        </p:nvSpPr>
        <p:spPr>
          <a:xfrm>
            <a:off x="457200" y="292608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59436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psa-application-ui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approuter + apps</a:t>
            </a:r>
            <a:endParaRPr lang="en-US" sz="1100" dirty="0"/>
          </a:p>
        </p:txBody>
      </p:sp>
      <p:sp>
        <p:nvSpPr>
          <p:cNvPr id="30" name="module psa-application-srv"/>
          <p:cNvSpPr/>
          <p:nvPr/>
        </p:nvSpPr>
        <p:spPr>
          <a:xfrm>
            <a:off x="3291840" y="292608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2900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psa-application-srv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34290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CAP service · 512 MB</a:t>
            </a:r>
            <a:endParaRPr lang="en-US" sz="1100" dirty="0"/>
          </a:p>
        </p:txBody>
      </p:sp>
      <p:sp>
        <p:nvSpPr>
          <p:cNvPr id="33" name="module psa-application-db-deployer"/>
          <p:cNvSpPr/>
          <p:nvPr/>
        </p:nvSpPr>
        <p:spPr>
          <a:xfrm>
            <a:off x="6126480" y="292608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6364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psa-application-db-deployer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626364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tables + data → HANA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Resources: HANA HDI container · XSUAA (PSA_Admin / PSA_User) · free tier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SA Navy Teal">
  <a:themeElements>
    <a:clrScheme name="PSA Navy Teal">
      <a:dk1>
        <a:srgbClr val="14213D"/>
      </a:dk1>
      <a:lt1>
        <a:srgbClr val="FFFFFF"/>
      </a:lt1>
      <a:dk2>
        <a:srgbClr val="4A5A73"/>
      </a:dk2>
      <a:lt2>
        <a:srgbClr val="EEF2F7"/>
      </a:lt2>
      <a:accent1>
        <a:srgbClr val="0F8B8D"/>
      </a:accent1>
      <a:accent2>
        <a:srgbClr val="F0A202"/>
      </a:accent2>
      <a:accent3>
        <a:srgbClr val="2E7D32"/>
      </a:accent3>
      <a:accent4>
        <a:srgbClr val="C0392B"/>
      </a:accent4>
      <a:accent5>
        <a:srgbClr val="DDF1F1"/>
      </a:accent5>
      <a:accent6>
        <a:srgbClr val="FDF1D6"/>
      </a:accent6>
      <a:hlink>
        <a:srgbClr val="0F8B8D"/>
      </a:hlink>
      <a:folHlink>
        <a:srgbClr val="4A5A73"/>
      </a:folHlink>
    </a:clrScheme>
    <a:fontScheme name="PSA Navy Te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PSA - Project Overview</dc:title>
  <dc:subject>PptxGenJS Presentation</dc:subject>
  <dc:creator>Saurabh Pandey</dc:creator>
  <cp:lastModifiedBy>Saurabh Pandey</cp:lastModifiedBy>
  <cp:revision>1</cp:revision>
  <dcterms:created xsi:type="dcterms:W3CDTF">2026-10-28T12:07:34Z</dcterms:created>
  <dcterms:modified xsi:type="dcterms:W3CDTF">2026-10-28T12:07:34Z</dcterms:modified>
</cp:coreProperties>
</file>