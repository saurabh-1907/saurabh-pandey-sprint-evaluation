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cf2f2b9-a902-a06f-0e14-de1a8688dfad}">
          <p14:sldIdLst>
            <p14:sldId id="256"/>
            <p14:sldId id="257"/>
          </p14:sldIdLst>
        </p14:section>
        <p14:section name="Solution" id="{748cd657-ecf5-f681-654f-967eb92fea83}">
          <p14:sldIdLst>
            <p14:sldId id="258"/>
            <p14:sldId id="259"/>
            <p14:sldId id="260"/>
          </p14:sldIdLst>
        </p14:section>
        <p14:section name="Apps" id="{aecc521e-af11-9df2-e6c9-123b0d81b0b8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elivery" id="{fcb47493-1a1d-2f0c-e2ad-8209cc96e6f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PSA: timesheets, budgets and invoices for a services company, built only with SAP technology on the BTP free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0"/>
            <a:ext cx="4480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03120"/>
            <a:ext cx="4206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Enterprise PSA · SAP CAP +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Enterprise PSA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Professional Services Automation on SAP BTP</a:t>
            </a:r>
            <a:endParaRPr lang="en-US" sz="1600" dirty="0"/>
          </a:p>
        </p:txBody>
      </p:sp>
      <p:sp>
        <p:nvSpPr>
          <p:cNvPr id="4" name="pill SAP CAP"/>
          <p:cNvSpPr/>
          <p:nvPr/>
        </p:nvSpPr>
        <p:spPr>
          <a:xfrm>
            <a:off x="457200" y="2971800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9718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SAP CAP</a:t>
            </a:r>
            <a:endParaRPr lang="en-US" sz="1100" dirty="0"/>
          </a:p>
        </p:txBody>
      </p:sp>
      <p:sp>
        <p:nvSpPr>
          <p:cNvPr id="6" name="pill HANA Cloud"/>
          <p:cNvSpPr/>
          <p:nvPr/>
        </p:nvSpPr>
        <p:spPr>
          <a:xfrm>
            <a:off x="1463040" y="2971800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63040" y="297180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HANA Cloud</a:t>
            </a:r>
            <a:endParaRPr lang="en-US" sz="1100" dirty="0"/>
          </a:p>
        </p:txBody>
      </p:sp>
      <p:sp>
        <p:nvSpPr>
          <p:cNvPr id="8" name="pill Fiori Elements"/>
          <p:cNvSpPr/>
          <p:nvPr/>
        </p:nvSpPr>
        <p:spPr>
          <a:xfrm>
            <a:off x="2697480" y="2971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97480" y="2971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Fiori Elements</a:t>
            </a:r>
            <a:endParaRPr lang="en-US" sz="1100" dirty="0"/>
          </a:p>
        </p:txBody>
      </p:sp>
      <p:sp>
        <p:nvSpPr>
          <p:cNvPr id="10" name="pill XSUAA"/>
          <p:cNvSpPr/>
          <p:nvPr/>
        </p:nvSpPr>
        <p:spPr>
          <a:xfrm>
            <a:off x="457200" y="3392424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3924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XSUAA</a:t>
            </a:r>
            <a:endParaRPr lang="en-US" sz="1100" dirty="0"/>
          </a:p>
        </p:txBody>
      </p:sp>
      <p:sp>
        <p:nvSpPr>
          <p:cNvPr id="12" name="pill SAP CI/CD"/>
          <p:cNvSpPr/>
          <p:nvPr/>
        </p:nvSpPr>
        <p:spPr>
          <a:xfrm>
            <a:off x="1463040" y="3392424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63040" y="33924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SAP CI/CD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Saurabh Pandey · Sprint Evaluation</a:t>
            </a:r>
            <a:endParaRPr lang="en-US" sz="1200" dirty="0"/>
          </a:p>
        </p:txBody>
      </p:sp>
      <p:sp>
        <p:nvSpPr>
          <p:cNvPr id="15" name="Manager Home screenshot frame"/>
          <p:cNvSpPr/>
          <p:nvPr/>
        </p:nvSpPr>
        <p:spPr>
          <a:xfrm>
            <a:off x="4937760" y="960120"/>
            <a:ext cx="3794760" cy="217627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6" name="Manager Home screenshot" descr="Manager Hom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987552"/>
            <a:ext cx="3739896" cy="21214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937760" y="32461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Manager Home – Analytical List Page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Problem → Solution</a:t>
            </a:r>
            <a:endParaRPr lang="en-US" sz="3000" dirty="0"/>
          </a:p>
        </p:txBody>
      </p:sp>
      <p:sp>
        <p:nvSpPr>
          <p:cNvPr id="3" name="card Scope creep"/>
          <p:cNvSpPr/>
          <p:nvPr/>
        </p:nvSpPr>
        <p:spPr>
          <a:xfrm>
            <a:off x="45720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4" name="Scope creep icon circle"/>
          <p:cNvSpPr/>
          <p:nvPr/>
        </p:nvSpPr>
        <p:spPr>
          <a:xfrm>
            <a:off x="73152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cope creep icon" descr="Scope cree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5361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Scope creep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Tasks burn hours unseen</a:t>
            </a:r>
            <a:endParaRPr lang="en-US" sz="1300" dirty="0"/>
          </a:p>
        </p:txBody>
      </p:sp>
      <p:sp>
        <p:nvSpPr>
          <p:cNvPr id="8" name="down arrow"/>
          <p:cNvSpPr/>
          <p:nvPr/>
        </p:nvSpPr>
        <p:spPr>
          <a:xfrm>
            <a:off x="73152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Task burn % and alerts at 75 / 90 / 100 %</a:t>
            </a:r>
            <a:endParaRPr lang="en-US" sz="1300" dirty="0"/>
          </a:p>
        </p:txBody>
      </p:sp>
      <p:sp>
        <p:nvSpPr>
          <p:cNvPr id="10" name="card No real-time tracking"/>
          <p:cNvSpPr/>
          <p:nvPr/>
        </p:nvSpPr>
        <p:spPr>
          <a:xfrm>
            <a:off x="329184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No real-time tracking icon circle"/>
          <p:cNvSpPr/>
          <p:nvPr/>
        </p:nvSpPr>
        <p:spPr>
          <a:xfrm>
            <a:off x="356616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No real-time tracking icon" descr="No real-time track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15361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real-time tracking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Budget known at month end</a:t>
            </a:r>
            <a:endParaRPr lang="en-US" sz="1300" dirty="0"/>
          </a:p>
        </p:txBody>
      </p:sp>
      <p:sp>
        <p:nvSpPr>
          <p:cNvPr id="15" name="down arrow"/>
          <p:cNvSpPr/>
          <p:nvPr/>
        </p:nvSpPr>
        <p:spPr>
          <a:xfrm>
            <a:off x="356616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356616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Approval rolls up instantly: task → milestone → project → budget</a:t>
            </a:r>
            <a:endParaRPr lang="en-US" sz="1300" dirty="0"/>
          </a:p>
        </p:txBody>
      </p:sp>
      <p:sp>
        <p:nvSpPr>
          <p:cNvPr id="17" name="card Spreadsheet billing"/>
          <p:cNvSpPr/>
          <p:nvPr/>
        </p:nvSpPr>
        <p:spPr>
          <a:xfrm>
            <a:off x="612648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8" name="Spreadsheet billing icon circle"/>
          <p:cNvSpPr/>
          <p:nvPr/>
        </p:nvSpPr>
        <p:spPr>
          <a:xfrm>
            <a:off x="640080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Spreadsheet billing icon" descr="Spreadsheet billin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53619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080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Spreadsheet billing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Invoices built by hand</a:t>
            </a:r>
            <a:endParaRPr lang="en-US" sz="1300" dirty="0"/>
          </a:p>
        </p:txBody>
      </p:sp>
      <p:sp>
        <p:nvSpPr>
          <p:cNvPr id="22" name="down arrow"/>
          <p:cNvSpPr/>
          <p:nvPr/>
        </p:nvSpPr>
        <p:spPr>
          <a:xfrm>
            <a:off x="640080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Text 18"/>
          <p:cNvSpPr txBox="1"/>
          <p:nvPr/>
        </p:nvSpPr>
        <p:spPr>
          <a:xfrm>
            <a:off x="640080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Invoices from approved billable hours: T&amp;M, Fixed, Retainer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</a:t>
            </a:r>
            <a:endParaRPr lang="en-US" sz="3000" dirty="0"/>
          </a:p>
        </p:txBody>
      </p:sp>
      <p:sp>
        <p:nvSpPr>
          <p:cNvPr id="3" name="tier Fiori Launchpad"/>
          <p:cNvSpPr/>
          <p:nvPr/>
        </p:nvSpPr>
        <p:spPr>
          <a:xfrm>
            <a:off x="45720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4" name="Fiori Launchpad icon circle"/>
          <p:cNvSpPr/>
          <p:nvPr/>
        </p:nvSpPr>
        <p:spPr>
          <a:xfrm>
            <a:off x="100584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iori Launchpad icon" descr="Fiori Launchpa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14447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Fiori Launchpad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 Fiori Elements apps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228600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ier Approuter"/>
          <p:cNvSpPr/>
          <p:nvPr/>
        </p:nvSpPr>
        <p:spPr>
          <a:xfrm>
            <a:off x="260604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0" name="Approuter icon circle"/>
          <p:cNvSpPr/>
          <p:nvPr/>
        </p:nvSpPr>
        <p:spPr>
          <a:xfrm>
            <a:off x="315468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pprouter icon" descr="Approut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44475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Approuter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69748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XSUAA login · app/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443484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tier CAP Node.js"/>
          <p:cNvSpPr/>
          <p:nvPr/>
        </p:nvSpPr>
        <p:spPr>
          <a:xfrm>
            <a:off x="475488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6" name="CAP Node.js icon circle"/>
          <p:cNvSpPr/>
          <p:nvPr/>
        </p:nvSpPr>
        <p:spPr>
          <a:xfrm>
            <a:off x="530352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AP Node.js icon" descr="CAP Node.j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44475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 Node.js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OData V4 · rules · srv/</a:t>
            </a:r>
            <a:endParaRPr lang="en-US" sz="1100" dirty="0"/>
          </a:p>
        </p:txBody>
      </p:sp>
      <p:sp>
        <p:nvSpPr>
          <p:cNvPr id="20" name="arrow"/>
          <p:cNvSpPr/>
          <p:nvPr/>
        </p:nvSpPr>
        <p:spPr>
          <a:xfrm>
            <a:off x="658368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ier SAP HANA Cloud"/>
          <p:cNvSpPr/>
          <p:nvPr/>
        </p:nvSpPr>
        <p:spPr>
          <a:xfrm>
            <a:off x="690372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2" name="SAP HANA Cloud icon circle"/>
          <p:cNvSpPr/>
          <p:nvPr/>
        </p:nvSpPr>
        <p:spPr>
          <a:xfrm>
            <a:off x="7452360" y="1280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SAP HANA Cloud icon" descr="SAP HANA Clou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14447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516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SAP HANA Cloud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HDI container · db/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</a:t>
            </a:r>
            <a:endParaRPr lang="en-US" sz="4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Fiori apps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260604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42</a:t>
            </a:r>
            <a:endParaRPr lang="en-US" sz="4400" dirty="0"/>
          </a:p>
        </p:txBody>
      </p:sp>
      <p:sp>
        <p:nvSpPr>
          <p:cNvPr id="29" name="Text 23"/>
          <p:cNvSpPr txBox="1"/>
          <p:nvPr/>
        </p:nvSpPr>
        <p:spPr>
          <a:xfrm>
            <a:off x="260604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tests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475488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</a:t>
            </a:r>
            <a:endParaRPr lang="en-US" sz="4400" dirty="0"/>
          </a:p>
        </p:txBody>
      </p:sp>
      <p:sp>
        <p:nvSpPr>
          <p:cNvPr id="31" name="Text 25"/>
          <p:cNvSpPr txBox="1"/>
          <p:nvPr/>
        </p:nvSpPr>
        <p:spPr>
          <a:xfrm>
            <a:off x="475488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roles: Admin, User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90372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33" name="Text 27"/>
          <p:cNvSpPr txBox="1"/>
          <p:nvPr/>
        </p:nvSpPr>
        <p:spPr>
          <a:xfrm>
            <a:off x="690372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languages EN · DE · HI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Only SAP technology · BTP free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model and project skeleton</a:t>
            </a:r>
            <a:endParaRPr lang="en-US" sz="3000" dirty="0"/>
          </a:p>
        </p:txBody>
      </p:sp>
      <p:sp>
        <p:nvSpPr>
          <p:cNvPr id="3" name="relation"/>
          <p:cNvSpPr/>
          <p:nvPr/>
        </p:nvSpPr>
        <p:spPr>
          <a:xfrm>
            <a:off x="1828800" y="144018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" name="relation"/>
          <p:cNvSpPr/>
          <p:nvPr/>
        </p:nvSpPr>
        <p:spPr>
          <a:xfrm>
            <a:off x="3566160" y="144018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5" name="relation"/>
          <p:cNvSpPr/>
          <p:nvPr/>
        </p:nvSpPr>
        <p:spPr>
          <a:xfrm>
            <a:off x="2880360" y="169164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6" name="relation"/>
          <p:cNvSpPr/>
          <p:nvPr/>
        </p:nvSpPr>
        <p:spPr>
          <a:xfrm>
            <a:off x="2880360" y="256032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7" name="relation"/>
          <p:cNvSpPr/>
          <p:nvPr/>
        </p:nvSpPr>
        <p:spPr>
          <a:xfrm flipV="1">
            <a:off x="1828800" y="2148840"/>
            <a:ext cx="365760" cy="27432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8" name="relation"/>
          <p:cNvSpPr/>
          <p:nvPr/>
        </p:nvSpPr>
        <p:spPr>
          <a:xfrm>
            <a:off x="3566160" y="1600200"/>
            <a:ext cx="365760" cy="5486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9" name="relation"/>
          <p:cNvSpPr/>
          <p:nvPr/>
        </p:nvSpPr>
        <p:spPr>
          <a:xfrm>
            <a:off x="3566160" y="317754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0" name="relation"/>
          <p:cNvSpPr/>
          <p:nvPr/>
        </p:nvSpPr>
        <p:spPr>
          <a:xfrm>
            <a:off x="4617720" y="342900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1" name="relation"/>
          <p:cNvSpPr/>
          <p:nvPr/>
        </p:nvSpPr>
        <p:spPr>
          <a:xfrm>
            <a:off x="3566160" y="404622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2" name="entity Client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Client</a:t>
            </a:r>
            <a:endParaRPr lang="en-US" sz="1300" dirty="0"/>
          </a:p>
        </p:txBody>
      </p:sp>
      <p:sp>
        <p:nvSpPr>
          <p:cNvPr id="14" name="entity Project"/>
          <p:cNvSpPr/>
          <p:nvPr/>
        </p:nvSpPr>
        <p:spPr>
          <a:xfrm>
            <a:off x="219456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9456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Project</a:t>
            </a:r>
            <a:endParaRPr lang="en-US" sz="1300" dirty="0"/>
          </a:p>
        </p:txBody>
      </p:sp>
      <p:sp>
        <p:nvSpPr>
          <p:cNvPr id="16" name="entity Budget (1:1)"/>
          <p:cNvSpPr/>
          <p:nvPr/>
        </p:nvSpPr>
        <p:spPr>
          <a:xfrm>
            <a:off x="393192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Budget (1:1)</a:t>
            </a:r>
            <a:endParaRPr lang="en-US" sz="1300" dirty="0"/>
          </a:p>
        </p:txBody>
      </p:sp>
      <p:sp>
        <p:nvSpPr>
          <p:cNvPr id="18" name="entity Invoice"/>
          <p:cNvSpPr/>
          <p:nvPr/>
        </p:nvSpPr>
        <p:spPr>
          <a:xfrm>
            <a:off x="45720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Invoice</a:t>
            </a:r>
            <a:endParaRPr lang="en-US" sz="1300" dirty="0"/>
          </a:p>
        </p:txBody>
      </p:sp>
      <p:sp>
        <p:nvSpPr>
          <p:cNvPr id="20" name="entity Milestone"/>
          <p:cNvSpPr/>
          <p:nvPr/>
        </p:nvSpPr>
        <p:spPr>
          <a:xfrm>
            <a:off x="219456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Milestone</a:t>
            </a:r>
            <a:endParaRPr lang="en-US" sz="1300" dirty="0"/>
          </a:p>
        </p:txBody>
      </p:sp>
      <p:sp>
        <p:nvSpPr>
          <p:cNvPr id="22" name="entity Alert"/>
          <p:cNvSpPr/>
          <p:nvPr/>
        </p:nvSpPr>
        <p:spPr>
          <a:xfrm>
            <a:off x="393192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Alert</a:t>
            </a:r>
            <a:endParaRPr lang="en-US" sz="1300" dirty="0"/>
          </a:p>
        </p:txBody>
      </p:sp>
      <p:sp>
        <p:nvSpPr>
          <p:cNvPr id="24" name="entity Task"/>
          <p:cNvSpPr/>
          <p:nvPr/>
        </p:nvSpPr>
        <p:spPr>
          <a:xfrm>
            <a:off x="219456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9456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</a:t>
            </a:r>
            <a:endParaRPr lang="en-US" sz="1300" dirty="0"/>
          </a:p>
        </p:txBody>
      </p:sp>
      <p:sp>
        <p:nvSpPr>
          <p:cNvPr id="26" name="entity Time Entry"/>
          <p:cNvSpPr/>
          <p:nvPr/>
        </p:nvSpPr>
        <p:spPr>
          <a:xfrm>
            <a:off x="393192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3192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 Entry</a:t>
            </a:r>
            <a:endParaRPr lang="en-US" sz="1300" dirty="0"/>
          </a:p>
        </p:txBody>
      </p:sp>
      <p:sp>
        <p:nvSpPr>
          <p:cNvPr id="28" name="entity Employee"/>
          <p:cNvSpPr/>
          <p:nvPr/>
        </p:nvSpPr>
        <p:spPr>
          <a:xfrm>
            <a:off x="219456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9456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Employee</a:t>
            </a:r>
            <a:endParaRPr lang="en-US" sz="1300" dirty="0"/>
          </a:p>
        </p:txBody>
      </p:sp>
      <p:sp>
        <p:nvSpPr>
          <p:cNvPr id="30" name="entity Timesheet"/>
          <p:cNvSpPr/>
          <p:nvPr/>
        </p:nvSpPr>
        <p:spPr>
          <a:xfrm>
            <a:off x="393192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3192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Timesheet</a:t>
            </a:r>
            <a:endParaRPr lang="en-US" sz="1300" dirty="0"/>
          </a:p>
        </p:txBody>
      </p:sp>
      <p:sp>
        <p:nvSpPr>
          <p:cNvPr id="32" name="pill master"/>
          <p:cNvSpPr/>
          <p:nvPr/>
        </p:nvSpPr>
        <p:spPr>
          <a:xfrm>
            <a:off x="457200" y="3063240"/>
            <a:ext cx="8686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063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master</a:t>
            </a:r>
            <a:endParaRPr lang="en-US" sz="1000" dirty="0"/>
          </a:p>
        </p:txBody>
      </p:sp>
      <p:sp>
        <p:nvSpPr>
          <p:cNvPr id="34" name="pill transaction"/>
          <p:cNvSpPr/>
          <p:nvPr/>
        </p:nvSpPr>
        <p:spPr>
          <a:xfrm>
            <a:off x="457200" y="3474720"/>
            <a:ext cx="86868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7200" y="34747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transaction</a:t>
            </a:r>
            <a:endParaRPr lang="en-US" sz="1000" dirty="0"/>
          </a:p>
        </p:txBody>
      </p:sp>
      <p:sp>
        <p:nvSpPr>
          <p:cNvPr id="36" name="skeleton card"/>
          <p:cNvSpPr/>
          <p:nvPr/>
        </p:nvSpPr>
        <p:spPr>
          <a:xfrm>
            <a:off x="5760720" y="1188720"/>
            <a:ext cx="2926080" cy="310896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0" y="12984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Same skeleton as the sample repo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169164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app/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approuter · services.cds · 9 apps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db/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schema.cds · CDSView.cds · i18n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srv/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service.cds · service.js · test.http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root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mta.yaml · xs-security.json · .pipeline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Launchpad and roles</a:t>
            </a:r>
            <a:endParaRPr lang="en-US" sz="3000" dirty="0"/>
          </a:p>
        </p:txBody>
      </p:sp>
      <p:sp>
        <p:nvSpPr>
          <p:cNvPr id="3" name="Admin launchpad frame"/>
          <p:cNvSpPr/>
          <p:nvPr/>
        </p:nvSpPr>
        <p:spPr>
          <a:xfrm>
            <a:off x="457200" y="1051560"/>
            <a:ext cx="6309360" cy="218541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dmin launchpad" descr="Admin launchp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21305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01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 (PSA_Admin): 9 apps, starts on Manager Home</a:t>
            </a:r>
            <a:endParaRPr lang="en-US" sz="1100" dirty="0"/>
          </a:p>
        </p:txBody>
      </p:sp>
      <p:sp>
        <p:nvSpPr>
          <p:cNvPr id="6" name="User launchpad frame"/>
          <p:cNvSpPr/>
          <p:nvPr/>
        </p:nvSpPr>
        <p:spPr>
          <a:xfrm>
            <a:off x="6995160" y="1051560"/>
            <a:ext cx="1691640" cy="9966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User launchpad" descr="User launchp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1078992"/>
            <a:ext cx="1636776" cy="9418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9516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User: only My Timesheets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703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XSUAA roles Admin / User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Row-level security: own timesheets only ($user)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self-approval · locked after submit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Start page per role (whoAmI)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Manager Home (Analytical List Page)</a:t>
            </a:r>
            <a:endParaRPr lang="en-US" sz="3000" dirty="0"/>
          </a:p>
        </p:txBody>
      </p:sp>
      <p:sp>
        <p:nvSpPr>
          <p:cNvPr id="3" name="Manager Home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Manager Home screenshot" descr="Manager Hom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KPI tags"/>
          <p:cNvSpPr/>
          <p:nvPr/>
        </p:nvSpPr>
        <p:spPr>
          <a:xfrm>
            <a:off x="1411248" y="1315873"/>
            <a:ext cx="969630" cy="218167"/>
          </a:xfrm>
          <a:prstGeom prst="roundRect">
            <a:avLst>
              <a:gd name="adj" fmla="val 25148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KPIs + chart + table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KPI tags: Active Projects, At-Risk Budgets, Pending Approvals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Chart: budget vs consumed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Row → project details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Buttons to every 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Employee: log and submit hours</a:t>
            </a:r>
            <a:endParaRPr lang="en-US" sz="3000" dirty="0"/>
          </a:p>
        </p:txBody>
      </p:sp>
      <p:sp>
        <p:nvSpPr>
          <p:cNvPr id="3" name="My Timesheets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My Timesheets screenshot" descr="My Timeshee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totals and status"/>
          <p:cNvSpPr/>
          <p:nvPr/>
        </p:nvSpPr>
        <p:spPr>
          <a:xfrm>
            <a:off x="3091623" y="1788209"/>
            <a:ext cx="1640946" cy="313463"/>
          </a:xfrm>
          <a:prstGeom prst="roundRect">
            <a:avLst>
              <a:gd name="adj" fmla="val 17503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My Timesheets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Create week, add daily rows (task, hours, billable)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Save → Submit for Approval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Locked after submit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Import Hours from a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Manager: approve or reject</a:t>
            </a:r>
            <a:endParaRPr lang="en-US" sz="3000" dirty="0"/>
          </a:p>
        </p:txBody>
      </p:sp>
      <p:sp>
        <p:nvSpPr>
          <p:cNvPr id="3" name="Approve Timesheets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pprove Timesheets screenshot" descr="Approve Timeshee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Approve and Reject buttons"/>
          <p:cNvSpPr/>
          <p:nvPr/>
        </p:nvSpPr>
        <p:spPr>
          <a:xfrm>
            <a:off x="5753953" y="1502321"/>
            <a:ext cx="656905" cy="209881"/>
          </a:xfrm>
          <a:prstGeom prst="roundRect">
            <a:avLst>
              <a:gd name="adj" fmla="val 26141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Approve Timesheets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List opens with Submitted weeks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Open a week → Approve / Reject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Reject needs a reason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Approval updates the budget at once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Projects: budget, milestones, tasks</a:t>
            </a:r>
            <a:endParaRPr lang="en-US" sz="3000" dirty="0"/>
          </a:p>
        </p:txBody>
      </p:sp>
      <p:sp>
        <p:nvSpPr>
          <p:cNvPr id="3" name="Projects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Projects screenshot" descr="Projec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budget header"/>
          <p:cNvSpPr/>
          <p:nvPr/>
        </p:nvSpPr>
        <p:spPr>
          <a:xfrm>
            <a:off x="3950574" y="1767492"/>
            <a:ext cx="2574950" cy="466765"/>
          </a:xfrm>
          <a:prstGeom prst="roundRect">
            <a:avLst>
              <a:gd name="adj" fmla="val 11754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Budget health live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Budget used, hours used, status, remaining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Burn rate and projected end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Tabs: milestones, timesheets, alerts, invoices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Recalculate Budget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Billing Workbench</a:t>
            </a:r>
            <a:endParaRPr lang="en-US" sz="3000" dirty="0"/>
          </a:p>
        </p:txBody>
      </p:sp>
      <p:sp>
        <p:nvSpPr>
          <p:cNvPr id="3" name="Billing Workbench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Billing Workbench screenshot" descr="Billing Workbench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amount and status"/>
          <p:cNvSpPr/>
          <p:nvPr/>
        </p:nvSpPr>
        <p:spPr>
          <a:xfrm>
            <a:off x="3083284" y="1771635"/>
            <a:ext cx="1749357" cy="330036"/>
          </a:xfrm>
          <a:prstGeom prst="roundRect">
            <a:avLst>
              <a:gd name="adj" fmla="val 16624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Draft → Issued → Paid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Invoice from approved billable hours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T&amp;M · Fixed (capped) · Retainer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Tax and due date from Settings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Cancel → hours billable again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Audit Log, Settings, languages</a:t>
            </a:r>
            <a:endParaRPr lang="en-US" sz="3000" dirty="0"/>
          </a:p>
        </p:txBody>
      </p:sp>
      <p:sp>
        <p:nvSpPr>
          <p:cNvPr id="3" name="Audit Log screenshot frame"/>
          <p:cNvSpPr/>
          <p:nvPr/>
        </p:nvSpPr>
        <p:spPr>
          <a:xfrm>
            <a:off x="457200" y="1051560"/>
            <a:ext cx="5120640" cy="2926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udit Log screenshot" descr="Audit Log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5065776" cy="2871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041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Audit Log: who changed what and when (FR-012)</a:t>
            </a:r>
            <a:endParaRPr lang="en-US" sz="1100" dirty="0"/>
          </a:p>
        </p:txBody>
      </p:sp>
      <p:sp>
        <p:nvSpPr>
          <p:cNvPr id="6" name="Settings screenshot frame"/>
          <p:cNvSpPr/>
          <p:nvPr/>
        </p:nvSpPr>
        <p:spPr>
          <a:xfrm>
            <a:off x="5852160" y="1051560"/>
            <a:ext cx="2834640" cy="1417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Settings screenshot" descr="Setting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1078992"/>
            <a:ext cx="2779776" cy="1362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52160" y="2514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Settings: alert thresholds, tax %, payment days</a:t>
            </a:r>
            <a:endParaRPr lang="en-US" sz="1100" dirty="0"/>
          </a:p>
        </p:txBody>
      </p:sp>
      <p:sp>
        <p:nvSpPr>
          <p:cNvPr id="9" name="Clients app in German frame"/>
          <p:cNvSpPr/>
          <p:nvPr/>
        </p:nvSpPr>
        <p:spPr>
          <a:xfrm>
            <a:off x="5852160" y="2880360"/>
            <a:ext cx="2834640" cy="1417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0" name="Clients app in German" descr="Clients app in Ger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2907792"/>
            <a:ext cx="2779776" cy="1362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5216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Labels in English, German, Hindi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Delivery and CI/CD</a:t>
            </a:r>
            <a:endParaRPr lang="en-US" sz="3000" dirty="0"/>
          </a:p>
        </p:txBody>
      </p:sp>
      <p:sp>
        <p:nvSpPr>
          <p:cNvPr id="3" name="Push / merge icon circle"/>
          <p:cNvSpPr/>
          <p:nvPr/>
        </p:nvSpPr>
        <p:spPr>
          <a:xfrm>
            <a:off x="82296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ush / merge icon" descr="Push / mer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31856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Push / merge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to main</a:t>
            </a:r>
            <a:endParaRPr lang="en-US" sz="1100" dirty="0"/>
          </a:p>
        </p:txBody>
      </p:sp>
      <p:sp>
        <p:nvSpPr>
          <p:cNvPr id="7" name="arrow"/>
          <p:cNvSpPr/>
          <p:nvPr/>
        </p:nvSpPr>
        <p:spPr>
          <a:xfrm>
            <a:off x="167335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AP CI/CD icon circle"/>
          <p:cNvSpPr/>
          <p:nvPr/>
        </p:nvSpPr>
        <p:spPr>
          <a:xfrm>
            <a:off x="256032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SAP CI/CD icon" descr="SAP CI/C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885" y="131856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9456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SAP CI/CD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219456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webhook job</a:t>
            </a:r>
            <a:endParaRPr lang="en-US" sz="1100" dirty="0"/>
          </a:p>
        </p:txBody>
      </p:sp>
      <p:sp>
        <p:nvSpPr>
          <p:cNvPr id="12" name="arrow"/>
          <p:cNvSpPr/>
          <p:nvPr/>
        </p:nvSpPr>
        <p:spPr>
          <a:xfrm>
            <a:off x="341071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mbt build icon circle"/>
          <p:cNvSpPr/>
          <p:nvPr/>
        </p:nvSpPr>
        <p:spPr>
          <a:xfrm>
            <a:off x="429768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mbt build icon" descr="mbt buil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245" y="1318565"/>
            <a:ext cx="380390" cy="38039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93192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mbt build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9319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MTA archive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514807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npm test icon circle"/>
          <p:cNvSpPr/>
          <p:nvPr/>
        </p:nvSpPr>
        <p:spPr>
          <a:xfrm>
            <a:off x="603504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npm test icon" descr="npm tes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605" y="1318565"/>
            <a:ext cx="380390" cy="38039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66928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npm test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66928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42 tests</a:t>
            </a:r>
            <a:endParaRPr lang="en-US" sz="1100" dirty="0"/>
          </a:p>
        </p:txBody>
      </p:sp>
      <p:sp>
        <p:nvSpPr>
          <p:cNvPr id="22" name="arrow"/>
          <p:cNvSpPr/>
          <p:nvPr/>
        </p:nvSpPr>
        <p:spPr>
          <a:xfrm>
            <a:off x="688543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cf deploy icon circle"/>
          <p:cNvSpPr/>
          <p:nvPr/>
        </p:nvSpPr>
        <p:spPr>
          <a:xfrm>
            <a:off x="7772400" y="1143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cf deploy icon" descr="cf deploy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965" y="1318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0664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cf deploy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40664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Cloud Foundry</a:t>
            </a:r>
            <a:endParaRPr lang="en-US" sz="1100" dirty="0"/>
          </a:p>
        </p:txBody>
      </p:sp>
      <p:sp>
        <p:nvSpPr>
          <p:cNvPr id="27" name="module psa-application"/>
          <p:cNvSpPr/>
          <p:nvPr/>
        </p:nvSpPr>
        <p:spPr>
          <a:xfrm>
            <a:off x="45720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59436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approuter + apps</a:t>
            </a:r>
            <a:endParaRPr lang="en-US" sz="1100" dirty="0"/>
          </a:p>
        </p:txBody>
      </p:sp>
      <p:sp>
        <p:nvSpPr>
          <p:cNvPr id="30" name="module psa-application-srv"/>
          <p:cNvSpPr/>
          <p:nvPr/>
        </p:nvSpPr>
        <p:spPr>
          <a:xfrm>
            <a:off x="329184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290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psa-application-srv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34290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CAP service · 512 MB</a:t>
            </a:r>
            <a:endParaRPr lang="en-US" sz="1100" dirty="0"/>
          </a:p>
        </p:txBody>
      </p:sp>
      <p:sp>
        <p:nvSpPr>
          <p:cNvPr id="33" name="module psa-application-db-deployer"/>
          <p:cNvSpPr/>
          <p:nvPr/>
        </p:nvSpPr>
        <p:spPr>
          <a:xfrm>
            <a:off x="612648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6364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psa-application-db-deployer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626364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tables + data → HANA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Resources: HANA HDI container · XSUAA (PSA_Admin / PSA_User) · free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SA Navy Teal">
  <a:themeElements>
    <a:clrScheme name="PSA Navy Teal">
      <a:dk1>
        <a:srgbClr val="14213D"/>
      </a:dk1>
      <a:lt1>
        <a:srgbClr val="FFFFFF"/>
      </a:lt1>
      <a:dk2>
        <a:srgbClr val="4A5A73"/>
      </a:dk2>
      <a:lt2>
        <a:srgbClr val="EEF2F7"/>
      </a:lt2>
      <a:accent1>
        <a:srgbClr val="0F8B8D"/>
      </a:accent1>
      <a:accent2>
        <a:srgbClr val="F0A202"/>
      </a:accent2>
      <a:accent3>
        <a:srgbClr val="2E7D32"/>
      </a:accent3>
      <a:accent4>
        <a:srgbClr val="C0392B"/>
      </a:accent4>
      <a:accent5>
        <a:srgbClr val="DDF1F1"/>
      </a:accent5>
      <a:accent6>
        <a:srgbClr val="FDF1D6"/>
      </a:accent6>
      <a:hlink>
        <a:srgbClr val="0F8B8D"/>
      </a:hlink>
      <a:folHlink>
        <a:srgbClr val="4A5A73"/>
      </a:folHlink>
    </a:clrScheme>
    <a:fontScheme name="PSA Navy Te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PSA - Project Overview</dc:title>
  <dc:subject>PptxGenJS Presentation</dc:subject>
  <dc:creator>Saurabh Pandey</dc:creator>
  <cp:lastModifiedBy>Saurabh Pandey</cp:lastModifiedBy>
  <cp:revision>1</cp:revision>
  <dcterms:created xsi:type="dcterms:W3CDTF">2026-10-29T05:43:46Z</dcterms:created>
  <dcterms:modified xsi:type="dcterms:W3CDTF">2026-10-29T05:43:46Z</dcterms:modified>
</cp:coreProperties>
</file>