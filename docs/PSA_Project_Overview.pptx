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3f036819-7c25-0bb8-46df-ec839bf14553}">
          <p14:sldIdLst>
            <p14:sldId id="256"/>
            <p14:sldId id="257"/>
          </p14:sldIdLst>
        </p14:section>
        <p14:section name="Solution" id="{6a6d951e-049c-fa1a-00cf-45d2de8ce90a}">
          <p14:sldIdLst>
            <p14:sldId id="258"/>
            <p14:sldId id="259"/>
            <p14:sldId id="260"/>
          </p14:sldIdLst>
        </p14:section>
        <p14:section name="Apps" id="{fb89eebb-0141-ac8e-eefe-4e882fe1124e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Delivery" id="{f9d8bd25-64b9-0d2f-f536-f9c583d72685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Enterprise PSA: timesheets, budgets and invoices for a services company, built only with SAP technology on the BTP free tier.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097280"/>
            <a:ext cx="4480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2103120"/>
            <a:ext cx="4206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Enterprise PSA · SAP CAP +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0972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Enterprise PSA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21031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Professional Services Automation on SAP BTP</a:t>
            </a:r>
            <a:endParaRPr lang="en-US" sz="1600" dirty="0"/>
          </a:p>
        </p:txBody>
      </p:sp>
      <p:sp>
        <p:nvSpPr>
          <p:cNvPr id="4" name="pill SAP CAP"/>
          <p:cNvSpPr/>
          <p:nvPr/>
        </p:nvSpPr>
        <p:spPr>
          <a:xfrm>
            <a:off x="457200" y="2971800"/>
            <a:ext cx="9144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297180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SAP CAP</a:t>
            </a:r>
            <a:endParaRPr lang="en-US" sz="1100" dirty="0"/>
          </a:p>
        </p:txBody>
      </p:sp>
      <p:sp>
        <p:nvSpPr>
          <p:cNvPr id="6" name="pill HANA Cloud"/>
          <p:cNvSpPr/>
          <p:nvPr/>
        </p:nvSpPr>
        <p:spPr>
          <a:xfrm>
            <a:off x="1463040" y="2971800"/>
            <a:ext cx="11430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63040" y="297180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HANA Cloud</a:t>
            </a:r>
            <a:endParaRPr lang="en-US" sz="1100" dirty="0"/>
          </a:p>
        </p:txBody>
      </p:sp>
      <p:sp>
        <p:nvSpPr>
          <p:cNvPr id="8" name="pill Fiori Elements"/>
          <p:cNvSpPr/>
          <p:nvPr/>
        </p:nvSpPr>
        <p:spPr>
          <a:xfrm>
            <a:off x="2697480" y="2971800"/>
            <a:ext cx="132588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97480" y="297180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Fiori Elements</a:t>
            </a:r>
            <a:endParaRPr lang="en-US" sz="1100" dirty="0"/>
          </a:p>
        </p:txBody>
      </p:sp>
      <p:sp>
        <p:nvSpPr>
          <p:cNvPr id="10" name="pill XSUAA"/>
          <p:cNvSpPr/>
          <p:nvPr/>
        </p:nvSpPr>
        <p:spPr>
          <a:xfrm>
            <a:off x="457200" y="3392424"/>
            <a:ext cx="9144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3924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XSUAA</a:t>
            </a:r>
            <a:endParaRPr lang="en-US" sz="1100" dirty="0"/>
          </a:p>
        </p:txBody>
      </p:sp>
      <p:sp>
        <p:nvSpPr>
          <p:cNvPr id="12" name="pill SAP CI/CD"/>
          <p:cNvSpPr/>
          <p:nvPr/>
        </p:nvSpPr>
        <p:spPr>
          <a:xfrm>
            <a:off x="1463040" y="3392424"/>
            <a:ext cx="114300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463040" y="339242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SAP CI/CD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3434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Saurabh Pandey · Sprint Evaluation</a:t>
            </a:r>
            <a:endParaRPr lang="en-US" sz="1200" dirty="0"/>
          </a:p>
        </p:txBody>
      </p:sp>
      <p:sp>
        <p:nvSpPr>
          <p:cNvPr id="15" name="Manager Home screenshot frame"/>
          <p:cNvSpPr/>
          <p:nvPr/>
        </p:nvSpPr>
        <p:spPr>
          <a:xfrm>
            <a:off x="4937760" y="960120"/>
            <a:ext cx="3794760" cy="217627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16" name="Manager Home screenshot" descr="Manager Hom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5192" y="987552"/>
            <a:ext cx="3739896" cy="212140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4937760" y="324612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Manager Home – Analytical List Page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Problem → Solution</a:t>
            </a:r>
            <a:endParaRPr lang="en-US" sz="3000" dirty="0"/>
          </a:p>
        </p:txBody>
      </p:sp>
      <p:sp>
        <p:nvSpPr>
          <p:cNvPr id="3" name="card Scope creep"/>
          <p:cNvSpPr/>
          <p:nvPr/>
        </p:nvSpPr>
        <p:spPr>
          <a:xfrm>
            <a:off x="457200" y="1143000"/>
            <a:ext cx="2560320" cy="34290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4" name="Scope creep icon circle"/>
          <p:cNvSpPr/>
          <p:nvPr/>
        </p:nvSpPr>
        <p:spPr>
          <a:xfrm>
            <a:off x="731520" y="13716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Scope creep icon" descr="Scope cree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5361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194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Scope creep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5786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Tasks burn hours unseen</a:t>
            </a:r>
            <a:endParaRPr lang="en-US" sz="1300" dirty="0"/>
          </a:p>
        </p:txBody>
      </p:sp>
      <p:sp>
        <p:nvSpPr>
          <p:cNvPr id="8" name="down arrow"/>
          <p:cNvSpPr/>
          <p:nvPr/>
        </p:nvSpPr>
        <p:spPr>
          <a:xfrm>
            <a:off x="731520" y="3154680"/>
            <a:ext cx="0" cy="2743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Task burn % and alerts at 75 / 90 / 100 %</a:t>
            </a:r>
            <a:endParaRPr lang="en-US" sz="1300" dirty="0"/>
          </a:p>
        </p:txBody>
      </p:sp>
      <p:sp>
        <p:nvSpPr>
          <p:cNvPr id="10" name="card No real-time tracking"/>
          <p:cNvSpPr/>
          <p:nvPr/>
        </p:nvSpPr>
        <p:spPr>
          <a:xfrm>
            <a:off x="3291840" y="1143000"/>
            <a:ext cx="2560320" cy="34290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1" name="No real-time tracking icon circle"/>
          <p:cNvSpPr/>
          <p:nvPr/>
        </p:nvSpPr>
        <p:spPr>
          <a:xfrm>
            <a:off x="3566160" y="13716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No real-time tracking icon" descr="No real-time tracking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752" y="153619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66160" y="2194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real-time tracking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25786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Budget known at month end</a:t>
            </a:r>
            <a:endParaRPr lang="en-US" sz="1300" dirty="0"/>
          </a:p>
        </p:txBody>
      </p:sp>
      <p:sp>
        <p:nvSpPr>
          <p:cNvPr id="15" name="down arrow"/>
          <p:cNvSpPr/>
          <p:nvPr/>
        </p:nvSpPr>
        <p:spPr>
          <a:xfrm>
            <a:off x="3566160" y="3154680"/>
            <a:ext cx="0" cy="2743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Text 12"/>
          <p:cNvSpPr txBox="1"/>
          <p:nvPr/>
        </p:nvSpPr>
        <p:spPr>
          <a:xfrm>
            <a:off x="3566160" y="35661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Approval rolls up instantly: task → milestone → project → budget</a:t>
            </a:r>
            <a:endParaRPr lang="en-US" sz="1300" dirty="0"/>
          </a:p>
        </p:txBody>
      </p:sp>
      <p:sp>
        <p:nvSpPr>
          <p:cNvPr id="17" name="card Spreadsheet billing"/>
          <p:cNvSpPr/>
          <p:nvPr/>
        </p:nvSpPr>
        <p:spPr>
          <a:xfrm>
            <a:off x="6126480" y="1143000"/>
            <a:ext cx="2560320" cy="34290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8" name="Spreadsheet billing icon circle"/>
          <p:cNvSpPr/>
          <p:nvPr/>
        </p:nvSpPr>
        <p:spPr>
          <a:xfrm>
            <a:off x="6400800" y="13716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Spreadsheet billing icon" descr="Spreadsheet billing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1536192"/>
            <a:ext cx="356616" cy="35661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00800" y="2194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Spreadsheet billing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0" y="25786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Invoices built by hand</a:t>
            </a:r>
            <a:endParaRPr lang="en-US" sz="1300" dirty="0"/>
          </a:p>
        </p:txBody>
      </p:sp>
      <p:sp>
        <p:nvSpPr>
          <p:cNvPr id="22" name="down arrow"/>
          <p:cNvSpPr/>
          <p:nvPr/>
        </p:nvSpPr>
        <p:spPr>
          <a:xfrm>
            <a:off x="6400800" y="3154680"/>
            <a:ext cx="0" cy="27432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Text 18"/>
          <p:cNvSpPr txBox="1"/>
          <p:nvPr/>
        </p:nvSpPr>
        <p:spPr>
          <a:xfrm>
            <a:off x="6400800" y="35661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Invoices from approved billable hours: T&amp;M, Fixed, Retainer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Architecture</a:t>
            </a:r>
            <a:endParaRPr lang="en-US" sz="3000" dirty="0"/>
          </a:p>
        </p:txBody>
      </p:sp>
      <p:sp>
        <p:nvSpPr>
          <p:cNvPr id="3" name="tier Fiori Launchpad"/>
          <p:cNvSpPr/>
          <p:nvPr/>
        </p:nvSpPr>
        <p:spPr>
          <a:xfrm>
            <a:off x="457200" y="1143000"/>
            <a:ext cx="17830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4" name="Fiori Launchpad icon circle"/>
          <p:cNvSpPr/>
          <p:nvPr/>
        </p:nvSpPr>
        <p:spPr>
          <a:xfrm>
            <a:off x="1005840" y="12801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iori Launchpad icon" descr="Fiori Launchpad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144475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0574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Fiori Launchpad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774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9 Fiori Elements apps</a:t>
            </a:r>
            <a:endParaRPr lang="en-US" sz="1100" dirty="0"/>
          </a:p>
        </p:txBody>
      </p:sp>
      <p:sp>
        <p:nvSpPr>
          <p:cNvPr id="8" name="arrow"/>
          <p:cNvSpPr/>
          <p:nvPr/>
        </p:nvSpPr>
        <p:spPr>
          <a:xfrm>
            <a:off x="2286000" y="1984248"/>
            <a:ext cx="27432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9" name="tier Approuter"/>
          <p:cNvSpPr/>
          <p:nvPr/>
        </p:nvSpPr>
        <p:spPr>
          <a:xfrm>
            <a:off x="2606040" y="1143000"/>
            <a:ext cx="17830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0" name="Approuter icon circle"/>
          <p:cNvSpPr/>
          <p:nvPr/>
        </p:nvSpPr>
        <p:spPr>
          <a:xfrm>
            <a:off x="3154680" y="12801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Approuter icon" descr="Approuter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1444752"/>
            <a:ext cx="356616" cy="3566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97480" y="20574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Approuter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2697480" y="23774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XSUAA login · app/</a:t>
            </a:r>
            <a:endParaRPr lang="en-US" sz="1100" dirty="0"/>
          </a:p>
        </p:txBody>
      </p:sp>
      <p:sp>
        <p:nvSpPr>
          <p:cNvPr id="14" name="arrow"/>
          <p:cNvSpPr/>
          <p:nvPr/>
        </p:nvSpPr>
        <p:spPr>
          <a:xfrm>
            <a:off x="4434840" y="1984248"/>
            <a:ext cx="27432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5" name="tier CAP Node.js"/>
          <p:cNvSpPr/>
          <p:nvPr/>
        </p:nvSpPr>
        <p:spPr>
          <a:xfrm>
            <a:off x="4754880" y="1143000"/>
            <a:ext cx="17830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16" name="CAP Node.js icon circle"/>
          <p:cNvSpPr/>
          <p:nvPr/>
        </p:nvSpPr>
        <p:spPr>
          <a:xfrm>
            <a:off x="5303520" y="12801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CAP Node.js icon" descr="CAP Node.j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444752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46320" y="20574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CAP Node.js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4846320" y="23774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OData V4 · rules · srv/</a:t>
            </a:r>
            <a:endParaRPr lang="en-US" sz="1100" dirty="0"/>
          </a:p>
        </p:txBody>
      </p:sp>
      <p:sp>
        <p:nvSpPr>
          <p:cNvPr id="20" name="arrow"/>
          <p:cNvSpPr/>
          <p:nvPr/>
        </p:nvSpPr>
        <p:spPr>
          <a:xfrm>
            <a:off x="6583680" y="1984248"/>
            <a:ext cx="27432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1" name="tier SAP HANA Cloud"/>
          <p:cNvSpPr/>
          <p:nvPr/>
        </p:nvSpPr>
        <p:spPr>
          <a:xfrm>
            <a:off x="6903720" y="1143000"/>
            <a:ext cx="17830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2" name="SAP HANA Cloud icon circle"/>
          <p:cNvSpPr/>
          <p:nvPr/>
        </p:nvSpPr>
        <p:spPr>
          <a:xfrm>
            <a:off x="7452360" y="12801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SAP HANA Cloud icon" descr="SAP HANA Clou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6952" y="1444752"/>
            <a:ext cx="356616" cy="35661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95160" y="20574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SAP HANA Cloud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6995160" y="23774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HDI container · db/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457200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9</a:t>
            </a:r>
            <a:endParaRPr lang="en-US" sz="4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38862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Fiori apps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2606040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42</a:t>
            </a:r>
            <a:endParaRPr lang="en-US" sz="4400" dirty="0"/>
          </a:p>
        </p:txBody>
      </p:sp>
      <p:sp>
        <p:nvSpPr>
          <p:cNvPr id="29" name="Text 23"/>
          <p:cNvSpPr txBox="1"/>
          <p:nvPr/>
        </p:nvSpPr>
        <p:spPr>
          <a:xfrm>
            <a:off x="2606040" y="38862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automated tests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4754880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</a:t>
            </a:r>
            <a:endParaRPr lang="en-US" sz="4400" dirty="0"/>
          </a:p>
        </p:txBody>
      </p:sp>
      <p:sp>
        <p:nvSpPr>
          <p:cNvPr id="31" name="Text 25"/>
          <p:cNvSpPr txBox="1"/>
          <p:nvPr/>
        </p:nvSpPr>
        <p:spPr>
          <a:xfrm>
            <a:off x="4754880" y="38862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roles: Admin, User</a:t>
            </a:r>
            <a:endParaRPr lang="en-US" sz="1200" dirty="0"/>
          </a:p>
        </p:txBody>
      </p:sp>
      <p:sp>
        <p:nvSpPr>
          <p:cNvPr id="32" name="Text 26"/>
          <p:cNvSpPr txBox="1"/>
          <p:nvPr/>
        </p:nvSpPr>
        <p:spPr>
          <a:xfrm>
            <a:off x="6903720" y="31546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</a:t>
            </a:r>
            <a:endParaRPr lang="en-US" sz="4400" dirty="0"/>
          </a:p>
        </p:txBody>
      </p:sp>
      <p:sp>
        <p:nvSpPr>
          <p:cNvPr id="33" name="Text 27"/>
          <p:cNvSpPr txBox="1"/>
          <p:nvPr/>
        </p:nvSpPr>
        <p:spPr>
          <a:xfrm>
            <a:off x="6903720" y="388620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languages EN · DE · HI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Only SAP technology · BTP free tier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Data model and project skeleton</a:t>
            </a:r>
            <a:endParaRPr lang="en-US" sz="3000" dirty="0"/>
          </a:p>
        </p:txBody>
      </p:sp>
      <p:sp>
        <p:nvSpPr>
          <p:cNvPr id="3" name="relation"/>
          <p:cNvSpPr/>
          <p:nvPr/>
        </p:nvSpPr>
        <p:spPr>
          <a:xfrm>
            <a:off x="1828800" y="1440180"/>
            <a:ext cx="3657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4" name="relation"/>
          <p:cNvSpPr/>
          <p:nvPr/>
        </p:nvSpPr>
        <p:spPr>
          <a:xfrm>
            <a:off x="3566160" y="1440180"/>
            <a:ext cx="3657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5" name="relation"/>
          <p:cNvSpPr/>
          <p:nvPr/>
        </p:nvSpPr>
        <p:spPr>
          <a:xfrm>
            <a:off x="2880360" y="1691640"/>
            <a:ext cx="0" cy="36576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6" name="relation"/>
          <p:cNvSpPr/>
          <p:nvPr/>
        </p:nvSpPr>
        <p:spPr>
          <a:xfrm>
            <a:off x="2880360" y="2560320"/>
            <a:ext cx="0" cy="36576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7" name="relation"/>
          <p:cNvSpPr/>
          <p:nvPr/>
        </p:nvSpPr>
        <p:spPr>
          <a:xfrm flipV="1">
            <a:off x="1828800" y="2148840"/>
            <a:ext cx="365760" cy="27432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8" name="relation"/>
          <p:cNvSpPr/>
          <p:nvPr/>
        </p:nvSpPr>
        <p:spPr>
          <a:xfrm>
            <a:off x="3566160" y="1600200"/>
            <a:ext cx="365760" cy="54864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9" name="relation"/>
          <p:cNvSpPr/>
          <p:nvPr/>
        </p:nvSpPr>
        <p:spPr>
          <a:xfrm>
            <a:off x="3566160" y="3177540"/>
            <a:ext cx="3657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10" name="relation"/>
          <p:cNvSpPr/>
          <p:nvPr/>
        </p:nvSpPr>
        <p:spPr>
          <a:xfrm>
            <a:off x="4617720" y="3429000"/>
            <a:ext cx="0" cy="36576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11" name="relation"/>
          <p:cNvSpPr/>
          <p:nvPr/>
        </p:nvSpPr>
        <p:spPr>
          <a:xfrm>
            <a:off x="3566160" y="4046220"/>
            <a:ext cx="365760" cy="0"/>
          </a:xfrm>
          <a:prstGeom prst="line">
            <a:avLst/>
          </a:prstGeom>
          <a:noFill/>
          <a:ln w="15875">
            <a:solidFill>
              <a:schemeClr val="tx2"/>
            </a:solidFill>
            <a:prstDash val="solid"/>
          </a:ln>
        </p:spPr>
      </p:sp>
      <p:sp>
        <p:nvSpPr>
          <p:cNvPr id="12" name="entity Client"/>
          <p:cNvSpPr/>
          <p:nvPr/>
        </p:nvSpPr>
        <p:spPr>
          <a:xfrm>
            <a:off x="457200" y="118872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1188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Client</a:t>
            </a:r>
            <a:endParaRPr lang="en-US" sz="1300" dirty="0"/>
          </a:p>
        </p:txBody>
      </p:sp>
      <p:sp>
        <p:nvSpPr>
          <p:cNvPr id="14" name="entity Project"/>
          <p:cNvSpPr/>
          <p:nvPr/>
        </p:nvSpPr>
        <p:spPr>
          <a:xfrm>
            <a:off x="2194560" y="118872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94560" y="1188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Project</a:t>
            </a:r>
            <a:endParaRPr lang="en-US" sz="1300" dirty="0"/>
          </a:p>
        </p:txBody>
      </p:sp>
      <p:sp>
        <p:nvSpPr>
          <p:cNvPr id="16" name="entity Budget (1:1)"/>
          <p:cNvSpPr/>
          <p:nvPr/>
        </p:nvSpPr>
        <p:spPr>
          <a:xfrm>
            <a:off x="3931920" y="118872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31920" y="1188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Budget (1:1)</a:t>
            </a:r>
            <a:endParaRPr lang="en-US" sz="1300" dirty="0"/>
          </a:p>
        </p:txBody>
      </p:sp>
      <p:sp>
        <p:nvSpPr>
          <p:cNvPr id="18" name="entity Invoice"/>
          <p:cNvSpPr/>
          <p:nvPr/>
        </p:nvSpPr>
        <p:spPr>
          <a:xfrm>
            <a:off x="457200" y="205740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057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Invoice</a:t>
            </a:r>
            <a:endParaRPr lang="en-US" sz="1300" dirty="0"/>
          </a:p>
        </p:txBody>
      </p:sp>
      <p:sp>
        <p:nvSpPr>
          <p:cNvPr id="20" name="entity Milestone"/>
          <p:cNvSpPr/>
          <p:nvPr/>
        </p:nvSpPr>
        <p:spPr>
          <a:xfrm>
            <a:off x="2194560" y="205740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94560" y="2057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Milestone</a:t>
            </a:r>
            <a:endParaRPr lang="en-US" sz="1300" dirty="0"/>
          </a:p>
        </p:txBody>
      </p:sp>
      <p:sp>
        <p:nvSpPr>
          <p:cNvPr id="22" name="entity Alert"/>
          <p:cNvSpPr/>
          <p:nvPr/>
        </p:nvSpPr>
        <p:spPr>
          <a:xfrm>
            <a:off x="3931920" y="205740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31920" y="2057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Alert</a:t>
            </a:r>
            <a:endParaRPr lang="en-US" sz="1300" dirty="0"/>
          </a:p>
        </p:txBody>
      </p:sp>
      <p:sp>
        <p:nvSpPr>
          <p:cNvPr id="24" name="entity Task"/>
          <p:cNvSpPr/>
          <p:nvPr/>
        </p:nvSpPr>
        <p:spPr>
          <a:xfrm>
            <a:off x="2194560" y="292608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94560" y="2926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Task</a:t>
            </a:r>
            <a:endParaRPr lang="en-US" sz="1300" dirty="0"/>
          </a:p>
        </p:txBody>
      </p:sp>
      <p:sp>
        <p:nvSpPr>
          <p:cNvPr id="26" name="entity Time Entry"/>
          <p:cNvSpPr/>
          <p:nvPr/>
        </p:nvSpPr>
        <p:spPr>
          <a:xfrm>
            <a:off x="3931920" y="292608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931920" y="29260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Time Entry</a:t>
            </a:r>
            <a:endParaRPr lang="en-US" sz="1300" dirty="0"/>
          </a:p>
        </p:txBody>
      </p:sp>
      <p:sp>
        <p:nvSpPr>
          <p:cNvPr id="28" name="entity Employee"/>
          <p:cNvSpPr/>
          <p:nvPr/>
        </p:nvSpPr>
        <p:spPr>
          <a:xfrm>
            <a:off x="2194560" y="379476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6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194560" y="37947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Employee</a:t>
            </a:r>
            <a:endParaRPr lang="en-US" sz="1300" dirty="0"/>
          </a:p>
        </p:txBody>
      </p:sp>
      <p:sp>
        <p:nvSpPr>
          <p:cNvPr id="30" name="entity Timesheet"/>
          <p:cNvSpPr/>
          <p:nvPr/>
        </p:nvSpPr>
        <p:spPr>
          <a:xfrm>
            <a:off x="3931920" y="3794760"/>
            <a:ext cx="137160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931920" y="37947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Timesheet</a:t>
            </a:r>
            <a:endParaRPr lang="en-US" sz="1300" dirty="0"/>
          </a:p>
        </p:txBody>
      </p:sp>
      <p:sp>
        <p:nvSpPr>
          <p:cNvPr id="32" name="pill master"/>
          <p:cNvSpPr/>
          <p:nvPr/>
        </p:nvSpPr>
        <p:spPr>
          <a:xfrm>
            <a:off x="457200" y="3063240"/>
            <a:ext cx="868680" cy="32918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3063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master</a:t>
            </a:r>
            <a:endParaRPr lang="en-US" sz="1000" dirty="0"/>
          </a:p>
        </p:txBody>
      </p:sp>
      <p:sp>
        <p:nvSpPr>
          <p:cNvPr id="34" name="pill transaction"/>
          <p:cNvSpPr/>
          <p:nvPr/>
        </p:nvSpPr>
        <p:spPr>
          <a:xfrm>
            <a:off x="457200" y="3474720"/>
            <a:ext cx="86868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57200" y="34747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transaction</a:t>
            </a:r>
            <a:endParaRPr lang="en-US" sz="1000" dirty="0"/>
          </a:p>
        </p:txBody>
      </p:sp>
      <p:sp>
        <p:nvSpPr>
          <p:cNvPr id="36" name="skeleton card"/>
          <p:cNvSpPr/>
          <p:nvPr/>
        </p:nvSpPr>
        <p:spPr>
          <a:xfrm>
            <a:off x="5760720" y="1188720"/>
            <a:ext cx="2926080" cy="310896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943600" y="129844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Same skeleton as the sample repo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0" y="1691640"/>
            <a:ext cx="26517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app/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approuter · services.cds · 9 apps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db/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schema.cds · CDSView.cds · i18n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srv/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service.cds · service.js · test.http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root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mta.yaml · xs-security.json · .pipeline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Launchpad and roles</a:t>
            </a:r>
            <a:endParaRPr lang="en-US" sz="3000" dirty="0"/>
          </a:p>
        </p:txBody>
      </p:sp>
      <p:sp>
        <p:nvSpPr>
          <p:cNvPr id="3" name="Admin launchpad frame"/>
          <p:cNvSpPr/>
          <p:nvPr/>
        </p:nvSpPr>
        <p:spPr>
          <a:xfrm>
            <a:off x="457200" y="1051560"/>
            <a:ext cx="6309360" cy="218541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4" name="Admin launchpad" descr="Admin launchp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078992"/>
            <a:ext cx="6254496" cy="21305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31012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Admin (PSA_Admin): 9 apps, starts on Manager Home</a:t>
            </a:r>
            <a:endParaRPr lang="en-US" sz="1100" dirty="0"/>
          </a:p>
        </p:txBody>
      </p:sp>
      <p:sp>
        <p:nvSpPr>
          <p:cNvPr id="6" name="User launchpad frame"/>
          <p:cNvSpPr/>
          <p:nvPr/>
        </p:nvSpPr>
        <p:spPr>
          <a:xfrm>
            <a:off x="6995160" y="1051560"/>
            <a:ext cx="1691640" cy="996696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7" name="User launchpad" descr="User launchp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2" y="1078992"/>
            <a:ext cx="1636776" cy="9418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99516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User: only My Timesheets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3703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XSUAA roles Admin / User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Row-level security: own timesheets only ($user)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self-approval · locked after submit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Start page per role (whoAmI)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Manager Home (Analytical List Page)</a:t>
            </a:r>
            <a:endParaRPr lang="en-US" sz="3000" dirty="0"/>
          </a:p>
        </p:txBody>
      </p:sp>
      <p:sp>
        <p:nvSpPr>
          <p:cNvPr id="3" name="Manager Home screenshot frame"/>
          <p:cNvSpPr/>
          <p:nvPr/>
        </p:nvSpPr>
        <p:spPr>
          <a:xfrm>
            <a:off x="457200" y="1051560"/>
            <a:ext cx="6309360" cy="361188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4" name="Manager Home screenshot" descr="Manager Hom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078992"/>
            <a:ext cx="6254496" cy="3557016"/>
          </a:xfrm>
          <a:prstGeom prst="rect">
            <a:avLst/>
          </a:prstGeom>
        </p:spPr>
      </p:pic>
      <p:sp>
        <p:nvSpPr>
          <p:cNvPr id="5" name="highlight KPI tags"/>
          <p:cNvSpPr/>
          <p:nvPr/>
        </p:nvSpPr>
        <p:spPr>
          <a:xfrm>
            <a:off x="1411248" y="1315873"/>
            <a:ext cx="969630" cy="218167"/>
          </a:xfrm>
          <a:prstGeom prst="roundRect">
            <a:avLst>
              <a:gd name="adj" fmla="val 25148"/>
            </a:avLst>
          </a:prstGeom>
          <a:solidFill>
            <a:schemeClr val="bg1">
              <a:alpha val="0"/>
            </a:schemeClr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95160" y="10515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KPIs + chart + table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1645920"/>
            <a:ext cx="1691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KPI tags: Active Projects, At-Risk Budgets, Pending Approvals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Chart: budget vs consumed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Row → project details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Buttons to every app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Employee: log and submit hours</a:t>
            </a:r>
            <a:endParaRPr lang="en-US" sz="3000" dirty="0"/>
          </a:p>
        </p:txBody>
      </p:sp>
      <p:sp>
        <p:nvSpPr>
          <p:cNvPr id="3" name="My Timesheets screenshot frame"/>
          <p:cNvSpPr/>
          <p:nvPr/>
        </p:nvSpPr>
        <p:spPr>
          <a:xfrm>
            <a:off x="457200" y="1051560"/>
            <a:ext cx="6309360" cy="361188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4" name="My Timesheets screenshot" descr="My Timesheet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078992"/>
            <a:ext cx="6254496" cy="3557016"/>
          </a:xfrm>
          <a:prstGeom prst="rect">
            <a:avLst/>
          </a:prstGeom>
        </p:spPr>
      </p:pic>
      <p:sp>
        <p:nvSpPr>
          <p:cNvPr id="5" name="highlight totals and status"/>
          <p:cNvSpPr/>
          <p:nvPr/>
        </p:nvSpPr>
        <p:spPr>
          <a:xfrm>
            <a:off x="3091623" y="1788209"/>
            <a:ext cx="1640946" cy="313463"/>
          </a:xfrm>
          <a:prstGeom prst="roundRect">
            <a:avLst>
              <a:gd name="adj" fmla="val 17503"/>
            </a:avLst>
          </a:prstGeom>
          <a:solidFill>
            <a:schemeClr val="bg1">
              <a:alpha val="0"/>
            </a:schemeClr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95160" y="10515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My Timesheets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1645920"/>
            <a:ext cx="1691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Create week, add daily rows (task, hours, billable)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Save → Submit for Approval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Locked after submit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Import Hours from a tracker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Manager: approve or reject</a:t>
            </a:r>
            <a:endParaRPr lang="en-US" sz="3000" dirty="0"/>
          </a:p>
        </p:txBody>
      </p:sp>
      <p:sp>
        <p:nvSpPr>
          <p:cNvPr id="3" name="Approve Timesheets screenshot frame"/>
          <p:cNvSpPr/>
          <p:nvPr/>
        </p:nvSpPr>
        <p:spPr>
          <a:xfrm>
            <a:off x="457200" y="1051560"/>
            <a:ext cx="6309360" cy="361188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4" name="Approve Timesheets screenshot" descr="Approve Timesheet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078992"/>
            <a:ext cx="6254496" cy="3557016"/>
          </a:xfrm>
          <a:prstGeom prst="rect">
            <a:avLst/>
          </a:prstGeom>
        </p:spPr>
      </p:pic>
      <p:sp>
        <p:nvSpPr>
          <p:cNvPr id="5" name="highlight Approve and Reject buttons"/>
          <p:cNvSpPr/>
          <p:nvPr/>
        </p:nvSpPr>
        <p:spPr>
          <a:xfrm>
            <a:off x="5753953" y="1502321"/>
            <a:ext cx="656905" cy="209881"/>
          </a:xfrm>
          <a:prstGeom prst="roundRect">
            <a:avLst>
              <a:gd name="adj" fmla="val 26141"/>
            </a:avLst>
          </a:prstGeom>
          <a:solidFill>
            <a:schemeClr val="bg1">
              <a:alpha val="0"/>
            </a:schemeClr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95160" y="10515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Approve Timesheets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1645920"/>
            <a:ext cx="1691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List opens with Submitted weeks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Open a week → Approve / Reject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Reject needs a reason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Approval updates the budget at once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Projects: budget, milestones, tasks</a:t>
            </a:r>
            <a:endParaRPr lang="en-US" sz="3000" dirty="0"/>
          </a:p>
        </p:txBody>
      </p:sp>
      <p:sp>
        <p:nvSpPr>
          <p:cNvPr id="3" name="Projects screenshot frame"/>
          <p:cNvSpPr/>
          <p:nvPr/>
        </p:nvSpPr>
        <p:spPr>
          <a:xfrm>
            <a:off x="457200" y="1051560"/>
            <a:ext cx="6309360" cy="361188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4" name="Projects screenshot" descr="Project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078992"/>
            <a:ext cx="6254496" cy="3557016"/>
          </a:xfrm>
          <a:prstGeom prst="rect">
            <a:avLst/>
          </a:prstGeom>
        </p:spPr>
      </p:pic>
      <p:sp>
        <p:nvSpPr>
          <p:cNvPr id="5" name="highlight budget header"/>
          <p:cNvSpPr/>
          <p:nvPr/>
        </p:nvSpPr>
        <p:spPr>
          <a:xfrm>
            <a:off x="3950574" y="1767492"/>
            <a:ext cx="2574950" cy="466765"/>
          </a:xfrm>
          <a:prstGeom prst="roundRect">
            <a:avLst>
              <a:gd name="adj" fmla="val 11754"/>
            </a:avLst>
          </a:prstGeom>
          <a:solidFill>
            <a:schemeClr val="bg1">
              <a:alpha val="0"/>
            </a:schemeClr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95160" y="10515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Budget health live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1645920"/>
            <a:ext cx="1691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Budget used, hours used, status, remaining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Burn rate and projected end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Tabs: milestones, timesheets, alerts, invoices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Recalculate Budget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Billing Workbench</a:t>
            </a:r>
            <a:endParaRPr lang="en-US" sz="3000" dirty="0"/>
          </a:p>
        </p:txBody>
      </p:sp>
      <p:sp>
        <p:nvSpPr>
          <p:cNvPr id="3" name="Billing Workbench screenshot frame"/>
          <p:cNvSpPr/>
          <p:nvPr/>
        </p:nvSpPr>
        <p:spPr>
          <a:xfrm>
            <a:off x="457200" y="1051560"/>
            <a:ext cx="6309360" cy="361188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4" name="Billing Workbench screenshot" descr="Billing Workbench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078992"/>
            <a:ext cx="6254496" cy="3557016"/>
          </a:xfrm>
          <a:prstGeom prst="rect">
            <a:avLst/>
          </a:prstGeom>
        </p:spPr>
      </p:pic>
      <p:sp>
        <p:nvSpPr>
          <p:cNvPr id="5" name="highlight amount and status"/>
          <p:cNvSpPr/>
          <p:nvPr/>
        </p:nvSpPr>
        <p:spPr>
          <a:xfrm>
            <a:off x="3083284" y="1771635"/>
            <a:ext cx="1749357" cy="330036"/>
          </a:xfrm>
          <a:prstGeom prst="roundRect">
            <a:avLst>
              <a:gd name="adj" fmla="val 16624"/>
            </a:avLst>
          </a:prstGeom>
          <a:solidFill>
            <a:schemeClr val="bg1">
              <a:alpha val="0"/>
            </a:schemeClr>
          </a:solidFill>
          <a:ln w="3175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95160" y="10515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Draft → Issued → Paid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1645920"/>
            <a:ext cx="1691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Invoice from approved billable hours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T&amp;M · Fixed (capped) · Retainer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Tax and due date from Settings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Cancel → hours billable again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Audit Log, Settings, languages</a:t>
            </a:r>
            <a:endParaRPr lang="en-US" sz="3000" dirty="0"/>
          </a:p>
        </p:txBody>
      </p:sp>
      <p:sp>
        <p:nvSpPr>
          <p:cNvPr id="3" name="Audit Log screenshot frame"/>
          <p:cNvSpPr/>
          <p:nvPr/>
        </p:nvSpPr>
        <p:spPr>
          <a:xfrm>
            <a:off x="457200" y="1051560"/>
            <a:ext cx="5120640" cy="292608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4" name="Audit Log screenshot" descr="Audit Log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078992"/>
            <a:ext cx="5065776" cy="28712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0416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Audit Log: who changed what and when (FR-012)</a:t>
            </a:r>
            <a:endParaRPr lang="en-US" sz="1100" dirty="0"/>
          </a:p>
        </p:txBody>
      </p:sp>
      <p:sp>
        <p:nvSpPr>
          <p:cNvPr id="6" name="Settings screenshot frame"/>
          <p:cNvSpPr/>
          <p:nvPr/>
        </p:nvSpPr>
        <p:spPr>
          <a:xfrm>
            <a:off x="5852160" y="1051560"/>
            <a:ext cx="2834640" cy="1417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7" name="Settings screenshot" descr="Settings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9592" y="1078992"/>
            <a:ext cx="2779776" cy="1362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852160" y="25146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Settings: alert thresholds, tax %, payment days</a:t>
            </a:r>
            <a:endParaRPr lang="en-US" sz="1100" dirty="0"/>
          </a:p>
        </p:txBody>
      </p:sp>
      <p:sp>
        <p:nvSpPr>
          <p:cNvPr id="9" name="Clients app in German frame"/>
          <p:cNvSpPr/>
          <p:nvPr/>
        </p:nvSpPr>
        <p:spPr>
          <a:xfrm>
            <a:off x="5852160" y="2880360"/>
            <a:ext cx="2834640" cy="141732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2000"/>
              </a:srgbClr>
            </a:outerShdw>
          </a:effectLst>
        </p:spPr>
      </p:sp>
      <p:pic>
        <p:nvPicPr>
          <p:cNvPr id="10" name="Clients app in German" descr="Clients app in Ger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592" y="2907792"/>
            <a:ext cx="2779776" cy="136245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852160" y="4343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Labels in English, German, Hindi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Delivery and CI/CD</a:t>
            </a:r>
            <a:endParaRPr lang="en-US" sz="3000" dirty="0"/>
          </a:p>
        </p:txBody>
      </p:sp>
      <p:sp>
        <p:nvSpPr>
          <p:cNvPr id="3" name="Push / merge icon circle"/>
          <p:cNvSpPr/>
          <p:nvPr/>
        </p:nvSpPr>
        <p:spPr>
          <a:xfrm>
            <a:off x="822960" y="1143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ush / merge icon" descr="Push / merg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318565"/>
            <a:ext cx="380390" cy="38039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9659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Push / merge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to main</a:t>
            </a:r>
            <a:endParaRPr lang="en-US" sz="1100" dirty="0"/>
          </a:p>
        </p:txBody>
      </p:sp>
      <p:sp>
        <p:nvSpPr>
          <p:cNvPr id="7" name="arrow"/>
          <p:cNvSpPr/>
          <p:nvPr/>
        </p:nvSpPr>
        <p:spPr>
          <a:xfrm>
            <a:off x="1673352" y="1508760"/>
            <a:ext cx="4114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SAP CI/CD icon circle"/>
          <p:cNvSpPr/>
          <p:nvPr/>
        </p:nvSpPr>
        <p:spPr>
          <a:xfrm>
            <a:off x="2560320" y="1143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SAP CI/CD icon" descr="SAP CI/CD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5885" y="1318565"/>
            <a:ext cx="380390" cy="38039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94560" y="19659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SAP CI/CD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219456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webhook job</a:t>
            </a:r>
            <a:endParaRPr lang="en-US" sz="1100" dirty="0"/>
          </a:p>
        </p:txBody>
      </p:sp>
      <p:sp>
        <p:nvSpPr>
          <p:cNvPr id="12" name="arrow"/>
          <p:cNvSpPr/>
          <p:nvPr/>
        </p:nvSpPr>
        <p:spPr>
          <a:xfrm>
            <a:off x="3410712" y="1508760"/>
            <a:ext cx="4114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mbt build icon circle"/>
          <p:cNvSpPr/>
          <p:nvPr/>
        </p:nvSpPr>
        <p:spPr>
          <a:xfrm>
            <a:off x="4297680" y="1143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mbt build icon" descr="mbt build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3245" y="1318565"/>
            <a:ext cx="380390" cy="38039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931920" y="19659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mbt build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393192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MTA archive</a:t>
            </a:r>
            <a:endParaRPr lang="en-US" sz="1100" dirty="0"/>
          </a:p>
        </p:txBody>
      </p:sp>
      <p:sp>
        <p:nvSpPr>
          <p:cNvPr id="17" name="arrow"/>
          <p:cNvSpPr/>
          <p:nvPr/>
        </p:nvSpPr>
        <p:spPr>
          <a:xfrm>
            <a:off x="5148072" y="1508760"/>
            <a:ext cx="4114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npm test icon circle"/>
          <p:cNvSpPr/>
          <p:nvPr/>
        </p:nvSpPr>
        <p:spPr>
          <a:xfrm>
            <a:off x="6035040" y="1143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npm test icon" descr="npm tes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605" y="1318565"/>
            <a:ext cx="380390" cy="38039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669280" y="19659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npm test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566928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42 tests</a:t>
            </a:r>
            <a:endParaRPr lang="en-US" sz="1100" dirty="0"/>
          </a:p>
        </p:txBody>
      </p:sp>
      <p:sp>
        <p:nvSpPr>
          <p:cNvPr id="22" name="arrow"/>
          <p:cNvSpPr/>
          <p:nvPr/>
        </p:nvSpPr>
        <p:spPr>
          <a:xfrm>
            <a:off x="6885432" y="1508760"/>
            <a:ext cx="4114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cf deploy icon circle"/>
          <p:cNvSpPr/>
          <p:nvPr/>
        </p:nvSpPr>
        <p:spPr>
          <a:xfrm>
            <a:off x="7772400" y="1143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4" name="cf deploy icon" descr="cf deploy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7965" y="1318565"/>
            <a:ext cx="380390" cy="38039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406640" y="19659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cf deploy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7406640" y="2267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Cloud Foundry</a:t>
            </a:r>
            <a:endParaRPr lang="en-US" sz="1100" dirty="0"/>
          </a:p>
        </p:txBody>
      </p:sp>
      <p:sp>
        <p:nvSpPr>
          <p:cNvPr id="27" name="module psa-application-ui"/>
          <p:cNvSpPr/>
          <p:nvPr/>
        </p:nvSpPr>
        <p:spPr>
          <a:xfrm>
            <a:off x="457200" y="292608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59436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psa-application-ui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approuter + apps</a:t>
            </a:r>
            <a:endParaRPr lang="en-US" sz="1100" dirty="0"/>
          </a:p>
        </p:txBody>
      </p:sp>
      <p:sp>
        <p:nvSpPr>
          <p:cNvPr id="30" name="module psa-application-srv"/>
          <p:cNvSpPr/>
          <p:nvPr/>
        </p:nvSpPr>
        <p:spPr>
          <a:xfrm>
            <a:off x="3291840" y="292608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342900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psa-application-srv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342900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CAP service · 512 MB</a:t>
            </a:r>
            <a:endParaRPr lang="en-US" sz="1100" dirty="0"/>
          </a:p>
        </p:txBody>
      </p:sp>
      <p:sp>
        <p:nvSpPr>
          <p:cNvPr id="33" name="module psa-application-db-deployer"/>
          <p:cNvSpPr/>
          <p:nvPr/>
        </p:nvSpPr>
        <p:spPr>
          <a:xfrm>
            <a:off x="6126480" y="292608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263640" y="3017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psa-application-db-deployer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626364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tables + data → HANA</a:t>
            </a:r>
            <a:endParaRPr lang="en-US" sz="11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Resources: HANA HDI container · XSUAA (PSA_Admin / PSA_User) · free tier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SA Navy Teal">
  <a:themeElements>
    <a:clrScheme name="PSA Navy Teal">
      <a:dk1>
        <a:srgbClr val="14213D"/>
      </a:dk1>
      <a:lt1>
        <a:srgbClr val="FFFFFF"/>
      </a:lt1>
      <a:dk2>
        <a:srgbClr val="4A5A73"/>
      </a:dk2>
      <a:lt2>
        <a:srgbClr val="EEF2F7"/>
      </a:lt2>
      <a:accent1>
        <a:srgbClr val="0F8B8D"/>
      </a:accent1>
      <a:accent2>
        <a:srgbClr val="F0A202"/>
      </a:accent2>
      <a:accent3>
        <a:srgbClr val="2E7D32"/>
      </a:accent3>
      <a:accent4>
        <a:srgbClr val="C0392B"/>
      </a:accent4>
      <a:accent5>
        <a:srgbClr val="DDF1F1"/>
      </a:accent5>
      <a:accent6>
        <a:srgbClr val="FDF1D6"/>
      </a:accent6>
      <a:hlink>
        <a:srgbClr val="0F8B8D"/>
      </a:hlink>
      <a:folHlink>
        <a:srgbClr val="4A5A73"/>
      </a:folHlink>
    </a:clrScheme>
    <a:fontScheme name="PSA Navy Tea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Enterprise PSA - Project Overview</dc:title>
  <dc:subject>PptxGenJS Presentation</dc:subject>
  <dc:creator>Saurabh Pandey</dc:creator>
  <cp:lastModifiedBy>Saurabh Pandey</cp:lastModifiedBy>
  <cp:revision>1</cp:revision>
  <dcterms:created xsi:type="dcterms:W3CDTF">2026-10-29T05:07:11Z</dcterms:created>
  <dcterms:modified xsi:type="dcterms:W3CDTF">2026-10-29T05:07:11Z</dcterms:modified>
</cp:coreProperties>
</file>