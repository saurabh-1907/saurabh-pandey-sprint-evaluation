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34FEB743-11A7-07D5-2CB5-FA7049F5111A}">
          <p14:sldIdLst>
            <p14:sldId id="256"/>
            <p14:sldId id="257"/>
            <p14:sldId id="258"/>
          </p14:sldIdLst>
        </p14:section>
        <p14:section name="Solution" id="{57022F03-1E04-DA7A-EC63-7750602AE839}">
          <p14:sldIdLst>
            <p14:sldId id="259"/>
            <p14:sldId id="260"/>
            <p14:sldId id="261"/>
            <p14:sldId id="262"/>
            <p14:sldId id="263"/>
          </p14:sldIdLst>
        </p14:section>
        <p14:section name="Requirements" id="{8C6B1513-C849-F59F-EF9D-23BC1996406E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Wrap-up" id="{0145389E-FBEE-32E9-2143-850753D177D0}">
          <p14:sldIdLst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15D131-B617-E1D1-A185-497599BAEA1B}" v="5" dt="2026-10-13T08:56:35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SAI, MATTA" userId="S::matta.mohan-sai@capgemini.com::9c124ba2-c24c-4a56-a253-40e22a3baf59" providerId="AD" clId="Web-{E715D131-B617-E1D1-A185-497599BAEA1B}"/>
    <pc:docChg chg="modSld">
      <pc:chgData name="MOHAN SAI, MATTA" userId="S::matta.mohan-sai@capgemini.com::9c124ba2-c24c-4a56-a253-40e22a3baf59" providerId="AD" clId="Web-{E715D131-B617-E1D1-A185-497599BAEA1B}" dt="2026-10-13T08:56:35.734" v="4" actId="1076"/>
      <pc:docMkLst>
        <pc:docMk/>
      </pc:docMkLst>
      <pc:sldChg chg="modSp">
        <pc:chgData name="MOHAN SAI, MATTA" userId="S::matta.mohan-sai@capgemini.com::9c124ba2-c24c-4a56-a253-40e22a3baf59" providerId="AD" clId="Web-{E715D131-B617-E1D1-A185-497599BAEA1B}" dt="2026-10-13T08:56:35.734" v="4" actId="1076"/>
        <pc:sldMkLst>
          <pc:docMk/>
          <pc:sldMk cId="0" sldId="266"/>
        </pc:sldMkLst>
        <pc:spChg chg="mod">
          <ac:chgData name="MOHAN SAI, MATTA" userId="S::matta.mohan-sai@capgemini.com::9c124ba2-c24c-4a56-a253-40e22a3baf59" providerId="AD" clId="Web-{E715D131-B617-E1D1-A185-497599BAEA1B}" dt="2026-10-13T07:27:17.617" v="3" actId="1076"/>
          <ac:spMkLst>
            <pc:docMk/>
            <pc:sldMk cId="0" sldId="266"/>
            <ac:spMk id="2" creationId="{00000000-0000-0000-0000-000000000000}"/>
          </ac:spMkLst>
        </pc:spChg>
        <pc:picChg chg="mod">
          <ac:chgData name="MOHAN SAI, MATTA" userId="S::matta.mohan-sai@capgemini.com::9c124ba2-c24c-4a56-a253-40e22a3baf59" providerId="AD" clId="Web-{E715D131-B617-E1D1-A185-497599BAEA1B}" dt="2026-10-13T08:56:35.734" v="4" actId="1076"/>
          <ac:picMkLst>
            <pc:docMk/>
            <pc:sldMk cId="0" sldId="266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1D88A-5239-5749-85F5-B01F0B6A1CA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014F7-F94F-6B4B-9D01-49605C09D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8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the PSA initiative: one SAP BTP application for time, budget and billing.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problems, each traced to the requirements that fix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Objectives, what is in scope and what is deferred to Phase 2, with headline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Three-tier CAP pattern on Cloud Foundry: Fiori in HTML5 Repository, CAP services behind XSUAA, HANA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Five roles with row-level access. Segregation of duties is enforced and writes are audited.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Eleven entities; Budget is 1:1 with Project; Entry is one day of hours on one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Four request flows: log, approve, invoice, monitor. Budget roll-up completes within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Eight actions and functions across Employee, Project and Billing services, plus a nightly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Twelve requirements: ten critical, two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Five Fiori screens and the Fiori Elements template behind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Manager screens: Project Home and Project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Timesheet screens: employee grid and manager approvals.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Billing workbench and invoice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Performance, scale, delivery, security and testing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Summarise value, ask for FRD approval, confirm integration targets, then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5394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402336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>
                <a:solidFill>
                  <a:schemeClr val="bg1"/>
                </a:solidFill>
              </a:rPr>
              <a:t>Enterprise PSA on SAP BTP</a:t>
            </a:r>
            <a:endParaRPr lang="en-US" sz="4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40233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bg2"/>
                </a:solidFill>
              </a:rPr>
              <a:t>Functional Requirements Deck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chemeClr val="bg2"/>
                </a:solidFill>
              </a:rPr>
              <a:t>SAP BTP CAP + Fiori | Version 1 | </a:t>
            </a:r>
            <a:r>
              <a:rPr lang="en-US"/>
              <a:t>10</a:t>
            </a:r>
            <a:r>
              <a:rPr lang="en-US" sz="1800">
                <a:solidFill>
                  <a:schemeClr val="bg2"/>
                </a:solidFill>
              </a:rPr>
              <a:t> Oct 2026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chemeClr val="bg2"/>
                </a:solidFill>
              </a:rPr>
              <a:t>Team 1 - Business Analysis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4980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700"/>
          </a:p>
        </p:txBody>
      </p:sp>
      <p:sp>
        <p:nvSpPr>
          <p:cNvPr id="10" name="Text 8"/>
          <p:cNvSpPr txBox="1"/>
          <p:nvPr/>
        </p:nvSpPr>
        <p:spPr>
          <a:xfrm>
            <a:off x="7498080" y="4480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700"/>
          </a:p>
        </p:txBody>
      </p:sp>
      <p:sp>
        <p:nvSpPr>
          <p:cNvPr id="12" name="Text 10"/>
          <p:cNvSpPr txBox="1"/>
          <p:nvPr/>
        </p:nvSpPr>
        <p:spPr>
          <a:xfrm>
            <a:off x="8539480" y="1737360"/>
            <a:ext cx="3164840" cy="382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400" b="1" u="sng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TEAM:</a:t>
            </a:r>
          </a:p>
          <a:p>
            <a:pPr algn="just"/>
            <a:endParaRPr lang="en-US" b="1" u="sng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lvl="1" algn="just"/>
            <a:r>
              <a:rPr lang="en-US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RISHABH</a:t>
            </a:r>
          </a:p>
          <a:p>
            <a:pPr lvl="1" algn="just"/>
            <a:r>
              <a:rPr lang="en-US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SAMYUKTHA</a:t>
            </a:r>
          </a:p>
          <a:p>
            <a:pPr lvl="1" algn="just"/>
            <a:r>
              <a:rPr lang="en-US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SAVISHNA</a:t>
            </a:r>
          </a:p>
          <a:p>
            <a:pPr lvl="1" algn="just"/>
            <a:r>
              <a:rPr lang="en-US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SRINIDHI</a:t>
            </a:r>
          </a:p>
          <a:p>
            <a:pPr lvl="1" algn="just"/>
            <a:r>
              <a:rPr lang="en-US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MOHAN</a:t>
            </a:r>
          </a:p>
          <a:p>
            <a:pPr lvl="1" algn="just"/>
            <a:r>
              <a:rPr lang="en-US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KEVIN</a:t>
            </a:r>
          </a:p>
          <a:p>
            <a:pPr lvl="1" algn="just"/>
            <a:r>
              <a:rPr lang="en-US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VIGNESH</a:t>
            </a:r>
          </a:p>
          <a:p>
            <a:pPr lvl="1" algn="just"/>
            <a:r>
              <a:rPr lang="en-US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SRINANDHAN</a:t>
            </a:r>
          </a:p>
          <a:p>
            <a:pPr lvl="1" algn="just"/>
            <a:r>
              <a:rPr lang="en-US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AJAY</a:t>
            </a:r>
          </a:p>
          <a:p>
            <a:pPr marL="0" indent="0" algn="just">
              <a:buNone/>
            </a:pPr>
            <a:endParaRPr lang="en-US" sz="1700"/>
          </a:p>
        </p:txBody>
      </p:sp>
      <p:sp>
        <p:nvSpPr>
          <p:cNvPr id="13" name="Text 11"/>
          <p:cNvSpPr txBox="1"/>
          <p:nvPr/>
        </p:nvSpPr>
        <p:spPr>
          <a:xfrm>
            <a:off x="7498080" y="5760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Business problem</a:t>
            </a:r>
            <a:endParaRPr lang="en-US" sz="340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Business impact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Addressed by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F1B2D"/>
                          </a:solidFill>
                        </a:rPr>
                        <a:t>Scope creep: a task burns hours unseen until the whole project budget is breached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F1B2D"/>
                          </a:solidFill>
                        </a:rPr>
                        <a:t>Margin erosion, unplanned write-offs, strained client relationships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B63CE"/>
                          </a:solidFill>
                        </a:rPr>
                        <a:t>FR-003, FR-008, FR-009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F1B2D"/>
                          </a:solidFill>
                        </a:rPr>
                        <a:t>Disconnected systems: hours in third-party trackers, finance reconciles spreadsheets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F1B2D"/>
                          </a:solidFill>
                        </a:rPr>
                        <a:t>Slow, error-prone invoicing; revenue leakage; delayed cash collection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B63CE"/>
                          </a:solidFill>
                        </a:rPr>
                        <a:t>FR-005, FR-010, FR-011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F1B2D"/>
                          </a:solidFill>
                        </a:rPr>
                        <a:t>No real-time tracking: budget consumption visible only at month end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F1B2D"/>
                          </a:solidFill>
                        </a:rPr>
                        <a:t>Late corrective action; surprise overruns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0B63CE"/>
                          </a:solidFill>
                        </a:rPr>
                        <a:t>FR-004, FR-007</a:t>
                      </a:r>
                      <a:endParaRPr lang="en-US" sz="16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>
                <a:solidFill>
                  <a:schemeClr val="accent6"/>
                </a:solidFill>
              </a:rPr>
              <a:t>.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Objectives and scope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</a:rPr>
              <a:t>Objectives</a:t>
            </a:r>
            <a:endParaRPr lang="en-US" sz="200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Track time per Task; roll up to Project and Budget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Alert managers at consumption thresholds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Invoice from approved hours, no spreadsheets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Support Fixed, T&amp;M and Retainer billing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One role-based source of truth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66160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57200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chemeClr val="accent1"/>
                </a:solidFill>
              </a:rPr>
              <a:t>In scope</a:t>
            </a:r>
            <a:endParaRPr lang="en-US" sz="2000"/>
          </a:p>
        </p:txBody>
      </p:sp>
      <p:sp>
        <p:nvSpPr>
          <p:cNvPr id="8" name="Text 6"/>
          <p:cNvSpPr txBox="1"/>
          <p:nvPr/>
        </p:nvSpPr>
        <p:spPr>
          <a:xfrm>
            <a:off x="4572000" y="21031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CAP Node.js services, OData v4, HANA Cloud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Fiori Elements app (ALP, List Report, Object Page)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Roll-up, alerts, approvals, invoicing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XSUAA, audit log, Destination service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5 integrations (HR, finance, tracker, DIM, alerts)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66160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32104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chemeClr val="accent6"/>
                </a:solidFill>
              </a:rPr>
              <a:t>Out of scope</a:t>
            </a:r>
            <a:endParaRPr 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8321040" y="21031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Native mobile app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Payroll and compensation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Full accounting, tax, general ledger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Capacity planning (Phase 2)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</a:rPr>
              <a:t>Client portal (Phase 2); multi-tenant SaaS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548640" y="5166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000"/>
          </a:p>
        </p:txBody>
      </p:sp>
      <p:sp>
        <p:nvSpPr>
          <p:cNvPr id="13" name="Text 11"/>
          <p:cNvSpPr txBox="1"/>
          <p:nvPr/>
        </p:nvSpPr>
        <p:spPr>
          <a:xfrm>
            <a:off x="1920240" y="51663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less invoice prep effort</a:t>
            </a:r>
            <a:endParaRPr lang="en-US" sz="1400"/>
          </a:p>
        </p:txBody>
      </p:sp>
      <p:sp>
        <p:nvSpPr>
          <p:cNvPr id="14" name="Text 12"/>
          <p:cNvSpPr txBox="1"/>
          <p:nvPr/>
        </p:nvSpPr>
        <p:spPr>
          <a:xfrm>
            <a:off x="3364992" y="5166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000"/>
          </a:p>
        </p:txBody>
      </p:sp>
      <p:sp>
        <p:nvSpPr>
          <p:cNvPr id="15" name="Text 13"/>
          <p:cNvSpPr txBox="1"/>
          <p:nvPr/>
        </p:nvSpPr>
        <p:spPr>
          <a:xfrm>
            <a:off x="4736592" y="51663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faster invoice cycle</a:t>
            </a:r>
            <a:endParaRPr lang="en-US" sz="1400"/>
          </a:p>
        </p:txBody>
      </p:sp>
      <p:sp>
        <p:nvSpPr>
          <p:cNvPr id="16" name="Text 14"/>
          <p:cNvSpPr txBox="1"/>
          <p:nvPr/>
        </p:nvSpPr>
        <p:spPr>
          <a:xfrm>
            <a:off x="6181344" y="5166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min</a:t>
            </a:r>
            <a:endParaRPr lang="en-US" sz="3000"/>
          </a:p>
        </p:txBody>
      </p:sp>
      <p:sp>
        <p:nvSpPr>
          <p:cNvPr id="17" name="Text 15"/>
          <p:cNvSpPr txBox="1"/>
          <p:nvPr/>
        </p:nvSpPr>
        <p:spPr>
          <a:xfrm>
            <a:off x="7552944" y="51663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timesheet to dashboard</a:t>
            </a:r>
            <a:endParaRPr lang="en-US" sz="1400"/>
          </a:p>
        </p:txBody>
      </p:sp>
      <p:sp>
        <p:nvSpPr>
          <p:cNvPr id="18" name="Text 16"/>
          <p:cNvSpPr txBox="1"/>
          <p:nvPr/>
        </p:nvSpPr>
        <p:spPr>
          <a:xfrm>
            <a:off x="8997696" y="5166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000"/>
          </a:p>
        </p:txBody>
      </p:sp>
      <p:sp>
        <p:nvSpPr>
          <p:cNvPr id="19" name="Text 17"/>
          <p:cNvSpPr txBox="1"/>
          <p:nvPr/>
        </p:nvSpPr>
        <p:spPr>
          <a:xfrm>
            <a:off x="10369296" y="51663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timesheets on time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Solution architecture</a:t>
            </a:r>
            <a:endParaRPr lang="en-US" sz="3400"/>
          </a:p>
        </p:txBody>
      </p:sp>
      <p:sp>
        <p:nvSpPr>
          <p:cNvPr id="6" name="Text 3"/>
          <p:cNvSpPr txBox="1"/>
          <p:nvPr/>
        </p:nvSpPr>
        <p:spPr>
          <a:xfrm>
            <a:off x="9052560" y="1389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bg1"/>
                </a:solidFill>
              </a:rPr>
              <a:t>Presentation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486FC-A023-3B6E-B315-BC03F2784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38" y="5048399"/>
            <a:ext cx="11153426" cy="14852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45AD4-BB71-7F30-26CA-F8FA3FAAB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" y="1188720"/>
            <a:ext cx="11064240" cy="37707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Business roles and actors</a:t>
            </a:r>
            <a:endParaRPr lang="en-US" sz="34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40156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What they do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Typical users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Access scope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F1B2D"/>
                          </a:solidFill>
                        </a:rPr>
                        <a:t>Employee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Logs time, submits weekly timesheet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Consultants, engineers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Own timesheets, assigned tasks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F1B2D"/>
                          </a:solidFill>
                        </a:rPr>
                        <a:t>Project Manager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Owns projects and budgets, approves time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Delivery managers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Own projects only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F1B2D"/>
                          </a:solidFill>
                        </a:rPr>
                        <a:t>Finance User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Generates and tracks invoices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Finance, billing team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Approved hours and invoices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F1B2D"/>
                          </a:solidFill>
                        </a:rPr>
                        <a:t>Department Head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Views utilisation and portfolio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Practice leads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Own department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F1B2D"/>
                          </a:solidFill>
                        </a:rPr>
                        <a:t>Administrator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Master data, roles, thresholds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PSA admins, IT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Configuration; audit read-only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07492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FaB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543519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5074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2"/>
                </a:solidFill>
              </a:rPr>
              <a:t>Employees cannot approve own timesheets</a:t>
            </a:r>
            <a:endParaRPr lang="en-US" sz="1500"/>
          </a:p>
        </p:txBody>
      </p:sp>
      <p:sp>
        <p:nvSpPr>
          <p:cNvPr id="8" name="Shape 4"/>
          <p:cNvSpPr/>
          <p:nvPr/>
        </p:nvSpPr>
        <p:spPr>
          <a:xfrm>
            <a:off x="4297680" y="507492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4526280" y="530352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Fa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54" y="543519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257800" y="5074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2"/>
                </a:solidFill>
              </a:rPr>
              <a:t>Finance cannot edit approved hours</a:t>
            </a:r>
            <a:endParaRPr lang="en-US" sz="1500"/>
          </a:p>
        </p:txBody>
      </p:sp>
      <p:sp>
        <p:nvSpPr>
          <p:cNvPr id="12" name="Shape 7"/>
          <p:cNvSpPr/>
          <p:nvPr/>
        </p:nvSpPr>
        <p:spPr>
          <a:xfrm>
            <a:off x="8046720" y="507492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275320" y="5303520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FaHistor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994" y="543519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06840" y="5074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2"/>
                </a:solidFill>
              </a:rPr>
              <a:t>Every write is audit-logged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ER diagram: 11 entities</a:t>
            </a:r>
            <a:endParaRPr lang="en-US" sz="3400"/>
          </a:p>
        </p:txBody>
      </p:sp>
      <p:pic>
        <p:nvPicPr>
          <p:cNvPr id="3" name="Image 0" descr="Entity relationship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1046480"/>
            <a:ext cx="10159999" cy="46228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5760720"/>
            <a:ext cx="263347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548640" y="57607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tx2"/>
                </a:solidFill>
              </a:rPr>
              <a:t>Budget is 1:1 with Project</a:t>
            </a:r>
            <a:endParaRPr lang="en-US" sz="1400"/>
          </a:p>
        </p:txBody>
      </p:sp>
      <p:sp>
        <p:nvSpPr>
          <p:cNvPr id="6" name="Shape 3"/>
          <p:cNvSpPr/>
          <p:nvPr/>
        </p:nvSpPr>
        <p:spPr>
          <a:xfrm>
            <a:off x="3364992" y="5760720"/>
            <a:ext cx="263347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3364992" y="57607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tx2"/>
                </a:solidFill>
              </a:rPr>
              <a:t>Task is where time is booked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6181344" y="5760720"/>
            <a:ext cx="263347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6181344" y="57607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tx2"/>
                </a:solidFill>
              </a:rPr>
              <a:t>Entry = one day, one task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8997696" y="5760720"/>
            <a:ext cx="263347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997696" y="576072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tx2"/>
                </a:solidFill>
              </a:rPr>
              <a:t>Invoice bills many Timesheets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Key request flows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B63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chemeClr val="bg1"/>
                </a:solidFill>
              </a:rPr>
              <a:t>Log time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2606040" y="146304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2679192" y="14630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Add task hours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4206240" y="146304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4434840" y="146304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507992" y="14630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Submit weekly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6035040" y="146304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336792" y="14630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CAP validates</a:t>
            </a:r>
            <a:endParaRPr lang="en-US" sz="1400"/>
          </a:p>
        </p:txBody>
      </p:sp>
      <p:sp>
        <p:nvSpPr>
          <p:cNvPr id="13" name="Text 11"/>
          <p:cNvSpPr txBox="1"/>
          <p:nvPr/>
        </p:nvSpPr>
        <p:spPr>
          <a:xfrm>
            <a:off x="7863840" y="146304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165592" y="14630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Roll-up updates</a:t>
            </a:r>
            <a:endParaRPr lang="en-US" sz="1400"/>
          </a:p>
        </p:txBody>
      </p:sp>
      <p:sp>
        <p:nvSpPr>
          <p:cNvPr id="16" name="Text 14"/>
          <p:cNvSpPr txBox="1"/>
          <p:nvPr/>
        </p:nvSpPr>
        <p:spPr>
          <a:xfrm>
            <a:off x="9692640" y="146304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9921240" y="146304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994392" y="14630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Threshold alert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548640" y="265176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B9E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4864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chemeClr val="bg1"/>
                </a:solidFill>
              </a:rPr>
              <a:t>Approve time</a:t>
            </a:r>
            <a:endParaRPr lang="en-US" sz="1700"/>
          </a:p>
        </p:txBody>
      </p:sp>
      <p:sp>
        <p:nvSpPr>
          <p:cNvPr id="21" name="Shape 19"/>
          <p:cNvSpPr/>
          <p:nvPr/>
        </p:nvSpPr>
        <p:spPr>
          <a:xfrm>
            <a:off x="2606040" y="265176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2679192" y="265176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Open approvals</a:t>
            </a:r>
            <a:endParaRPr lang="en-US" sz="1400"/>
          </a:p>
        </p:txBody>
      </p:sp>
      <p:sp>
        <p:nvSpPr>
          <p:cNvPr id="23" name="Text 21"/>
          <p:cNvSpPr txBox="1"/>
          <p:nvPr/>
        </p:nvSpPr>
        <p:spPr>
          <a:xfrm>
            <a:off x="4206240" y="265176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4434840" y="265176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507992" y="265176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Approve or reject</a:t>
            </a:r>
            <a:endParaRPr lang="en-US" sz="1400"/>
          </a:p>
        </p:txBody>
      </p:sp>
      <p:sp>
        <p:nvSpPr>
          <p:cNvPr id="26" name="Text 24"/>
          <p:cNvSpPr txBox="1"/>
          <p:nvPr/>
        </p:nvSpPr>
        <p:spPr>
          <a:xfrm>
            <a:off x="6035040" y="265176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6263640" y="265176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336792" y="265176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Reason if rejected</a:t>
            </a:r>
            <a:endParaRPr lang="en-US" sz="1400"/>
          </a:p>
        </p:txBody>
      </p:sp>
      <p:sp>
        <p:nvSpPr>
          <p:cNvPr id="29" name="Text 27"/>
          <p:cNvSpPr txBox="1"/>
          <p:nvPr/>
        </p:nvSpPr>
        <p:spPr>
          <a:xfrm>
            <a:off x="7863840" y="265176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8092440" y="265176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8165592" y="265176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Employee notified</a:t>
            </a:r>
            <a:endParaRPr lang="en-US" sz="1400"/>
          </a:p>
        </p:txBody>
      </p:sp>
      <p:sp>
        <p:nvSpPr>
          <p:cNvPr id="32" name="Text 30"/>
          <p:cNvSpPr txBox="1"/>
          <p:nvPr/>
        </p:nvSpPr>
        <p:spPr>
          <a:xfrm>
            <a:off x="9692640" y="265176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9921240" y="265176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9994392" y="265176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Approved hours billable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548640" y="38404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2A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48640" y="3840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chemeClr val="tx1"/>
                </a:solidFill>
              </a:rPr>
              <a:t>Invoice</a:t>
            </a:r>
            <a:endParaRPr lang="en-US" sz="1700"/>
          </a:p>
        </p:txBody>
      </p:sp>
      <p:sp>
        <p:nvSpPr>
          <p:cNvPr id="37" name="Shape 35"/>
          <p:cNvSpPr/>
          <p:nvPr/>
        </p:nvSpPr>
        <p:spPr>
          <a:xfrm>
            <a:off x="2606040" y="384048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2679192" y="384048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Pick project, period</a:t>
            </a:r>
            <a:endParaRPr lang="en-US" sz="1400"/>
          </a:p>
        </p:txBody>
      </p:sp>
      <p:sp>
        <p:nvSpPr>
          <p:cNvPr id="39" name="Text 37"/>
          <p:cNvSpPr txBox="1"/>
          <p:nvPr/>
        </p:nvSpPr>
        <p:spPr>
          <a:xfrm>
            <a:off x="4206240" y="384048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40" name="Shape 38"/>
          <p:cNvSpPr/>
          <p:nvPr/>
        </p:nvSpPr>
        <p:spPr>
          <a:xfrm>
            <a:off x="4434840" y="384048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4507992" y="384048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Collect approved hours</a:t>
            </a:r>
            <a:endParaRPr lang="en-US" sz="1400"/>
          </a:p>
        </p:txBody>
      </p:sp>
      <p:sp>
        <p:nvSpPr>
          <p:cNvPr id="42" name="Text 40"/>
          <p:cNvSpPr txBox="1"/>
          <p:nvPr/>
        </p:nvSpPr>
        <p:spPr>
          <a:xfrm>
            <a:off x="6035040" y="384048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6263640" y="384048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6336792" y="384048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Compute by billing type</a:t>
            </a:r>
            <a:endParaRPr lang="en-US" sz="1400"/>
          </a:p>
        </p:txBody>
      </p:sp>
      <p:sp>
        <p:nvSpPr>
          <p:cNvPr id="45" name="Text 43"/>
          <p:cNvSpPr txBox="1"/>
          <p:nvPr/>
        </p:nvSpPr>
        <p:spPr>
          <a:xfrm>
            <a:off x="7863840" y="384048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>
          <a:xfrm>
            <a:off x="8092440" y="384048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8165592" y="384048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Link timesheets</a:t>
            </a:r>
            <a:endParaRPr lang="en-US" sz="1400"/>
          </a:p>
        </p:txBody>
      </p:sp>
      <p:sp>
        <p:nvSpPr>
          <p:cNvPr id="48" name="Text 46"/>
          <p:cNvSpPr txBox="1"/>
          <p:nvPr/>
        </p:nvSpPr>
        <p:spPr>
          <a:xfrm>
            <a:off x="9692640" y="384048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9921240" y="384048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9994392" y="384048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PDF to DIM</a:t>
            </a:r>
            <a:endParaRPr lang="en-US" sz="1400"/>
          </a:p>
        </p:txBody>
      </p:sp>
      <p:sp>
        <p:nvSpPr>
          <p:cNvPr id="51" name="Shape 49"/>
          <p:cNvSpPr/>
          <p:nvPr/>
        </p:nvSpPr>
        <p:spPr>
          <a:xfrm>
            <a:off x="548640" y="502920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6B4F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548640" y="5029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chemeClr val="bg1"/>
                </a:solidFill>
              </a:rPr>
              <a:t>Monitor</a:t>
            </a:r>
            <a:endParaRPr lang="en-US" sz="1700"/>
          </a:p>
        </p:txBody>
      </p:sp>
      <p:sp>
        <p:nvSpPr>
          <p:cNvPr id="53" name="Shape 51"/>
          <p:cNvSpPr/>
          <p:nvPr/>
        </p:nvSpPr>
        <p:spPr>
          <a:xfrm>
            <a:off x="2606040" y="502920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2679192" y="502920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Open project ALP</a:t>
            </a:r>
            <a:endParaRPr lang="en-US" sz="1400"/>
          </a:p>
        </p:txBody>
      </p:sp>
      <p:sp>
        <p:nvSpPr>
          <p:cNvPr id="55" name="Text 53"/>
          <p:cNvSpPr txBox="1"/>
          <p:nvPr/>
        </p:nvSpPr>
        <p:spPr>
          <a:xfrm>
            <a:off x="4206240" y="502920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56" name="Shape 54"/>
          <p:cNvSpPr/>
          <p:nvPr/>
        </p:nvSpPr>
        <p:spPr>
          <a:xfrm>
            <a:off x="4434840" y="502920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 txBox="1"/>
          <p:nvPr/>
        </p:nvSpPr>
        <p:spPr>
          <a:xfrm>
            <a:off x="4507992" y="502920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Budget burn</a:t>
            </a:r>
            <a:endParaRPr lang="en-US" sz="1400"/>
          </a:p>
        </p:txBody>
      </p:sp>
      <p:sp>
        <p:nvSpPr>
          <p:cNvPr id="58" name="Text 56"/>
          <p:cNvSpPr txBox="1"/>
          <p:nvPr/>
        </p:nvSpPr>
        <p:spPr>
          <a:xfrm>
            <a:off x="6035040" y="502920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6263640" y="502920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 txBox="1"/>
          <p:nvPr/>
        </p:nvSpPr>
        <p:spPr>
          <a:xfrm>
            <a:off x="6336792" y="502920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Milestone progress</a:t>
            </a:r>
            <a:endParaRPr lang="en-US" sz="1400"/>
          </a:p>
        </p:txBody>
      </p:sp>
      <p:sp>
        <p:nvSpPr>
          <p:cNvPr id="61" name="Text 59"/>
          <p:cNvSpPr txBox="1"/>
          <p:nvPr/>
        </p:nvSpPr>
        <p:spPr>
          <a:xfrm>
            <a:off x="7863840" y="502920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6"/>
                </a:solidFill>
              </a:rPr>
              <a:t>&gt;</a:t>
            </a:r>
            <a:endParaRPr lang="en-US" sz="1600"/>
          </a:p>
        </p:txBody>
      </p:sp>
      <p:sp>
        <p:nvSpPr>
          <p:cNvPr id="62" name="Shape 60"/>
          <p:cNvSpPr/>
          <p:nvPr/>
        </p:nvSpPr>
        <p:spPr>
          <a:xfrm>
            <a:off x="8092440" y="5029200"/>
            <a:ext cx="1600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 txBox="1"/>
          <p:nvPr/>
        </p:nvSpPr>
        <p:spPr>
          <a:xfrm>
            <a:off x="8165592" y="502920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tx1"/>
                </a:solidFill>
              </a:rPr>
              <a:t>At-risk tasks</a:t>
            </a:r>
            <a:endParaRPr lang="en-US" sz="1400"/>
          </a:p>
        </p:txBody>
      </p:sp>
      <p:sp>
        <p:nvSpPr>
          <p:cNvPr id="64" name="Text 62"/>
          <p:cNvSpPr txBox="1"/>
          <p:nvPr/>
        </p:nvSpPr>
        <p:spPr>
          <a:xfrm>
            <a:off x="54864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chemeClr val="accent6"/>
                </a:solidFill>
              </a:rPr>
              <a:t>Roll-up: Entry hours &gt; Task actual &gt; Project consumed &gt; Budget amount, within 60 seconds.</a:t>
            </a:r>
            <a:endParaRPr lang="en-US" sz="140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Actions and functions</a:t>
            </a:r>
            <a:endParaRPr lang="en-US" sz="34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Behaviour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B63CE"/>
                          </a:solidFill>
                        </a:rPr>
                        <a:t>submitTimesheet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Employee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Bound action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Validates 24 h cap, locks entries, triggers roll-up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B63CE"/>
                          </a:solidFill>
                        </a:rPr>
                        <a:t>approveTimesheet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Project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Bound action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Approves, stamps approver, notifies employee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B63CE"/>
                          </a:solidFill>
                        </a:rPr>
                        <a:t>rejectTimesheet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Project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Bound action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Rejects with mandatory reason, notifies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B63CE"/>
                          </a:solidFill>
                        </a:rPr>
                        <a:t>recalculateBudget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Project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Bound action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Recomputes consumed and remaining amounts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B63CE"/>
                          </a:solidFill>
                        </a:rPr>
                        <a:t>generateInvoice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Billing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Action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Builds invoice from approved, un-invoiced hours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B63CE"/>
                          </a:solidFill>
                        </a:rPr>
                        <a:t>issueInvoice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Billing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Bound action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Draft to Issued, PDF to DIM, notifies client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B63CE"/>
                          </a:solidFill>
                        </a:rPr>
                        <a:t>markInvoicePaid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Billing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Bound action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Sets status Paid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B63CE"/>
                          </a:solidFill>
                        </a:rPr>
                        <a:t>getBurnSummary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Project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Function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F1B2D"/>
                          </a:solidFill>
                        </a:rPr>
                        <a:t>Budget, hours, burn rate, projected end</a:t>
                      </a:r>
                      <a:endParaRPr lang="en-US" sz="14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Functional requirements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77240" y="1545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FR-001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Maintain master data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3657600" y="1764792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FR-002</a:t>
            </a:r>
            <a:endParaRPr lang="en-US" sz="1300"/>
          </a:p>
        </p:txBody>
      </p:sp>
      <p:sp>
        <p:nvSpPr>
          <p:cNvPr id="9" name="Text 7"/>
          <p:cNvSpPr txBox="1"/>
          <p:nvPr/>
        </p:nvSpPr>
        <p:spPr>
          <a:xfrm>
            <a:off x="77724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Create project with one budget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3657600" y="2816352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77240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FR-003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77724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Define milestones and tasks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3657600" y="3867912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7724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FR-004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77724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Log hours, save draft, submit weekly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3657600" y="4919472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297680" y="141732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526280" y="1545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FR-005</a:t>
            </a:r>
            <a:endParaRPr lang="en-US" sz="1300"/>
          </a:p>
        </p:txBody>
      </p:sp>
      <p:sp>
        <p:nvSpPr>
          <p:cNvPr id="21" name="Text 19"/>
          <p:cNvSpPr txBox="1"/>
          <p:nvPr/>
        </p:nvSpPr>
        <p:spPr>
          <a:xfrm>
            <a:off x="452628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Import hours from time trackers</a:t>
            </a:r>
            <a:endParaRPr lang="en-US" sz="1500"/>
          </a:p>
        </p:txBody>
      </p:sp>
      <p:sp>
        <p:nvSpPr>
          <p:cNvPr id="22" name="Shape 20"/>
          <p:cNvSpPr/>
          <p:nvPr/>
        </p:nvSpPr>
        <p:spPr>
          <a:xfrm>
            <a:off x="7406640" y="176479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297680" y="246888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52628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FR-006</a:t>
            </a:r>
            <a:endParaRPr lang="en-US" sz="1300"/>
          </a:p>
        </p:txBody>
      </p:sp>
      <p:sp>
        <p:nvSpPr>
          <p:cNvPr id="25" name="Text 23"/>
          <p:cNvSpPr txBox="1"/>
          <p:nvPr/>
        </p:nvSpPr>
        <p:spPr>
          <a:xfrm>
            <a:off x="452628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Approve or reject with reason</a:t>
            </a:r>
            <a:endParaRPr lang="en-US" sz="1500"/>
          </a:p>
        </p:txBody>
      </p:sp>
      <p:sp>
        <p:nvSpPr>
          <p:cNvPr id="26" name="Shape 24"/>
          <p:cNvSpPr/>
          <p:nvPr/>
        </p:nvSpPr>
        <p:spPr>
          <a:xfrm>
            <a:off x="7406640" y="2816352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97680" y="352044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4526280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FR-007</a:t>
            </a:r>
            <a:endParaRPr lang="en-US" sz="1300"/>
          </a:p>
        </p:txBody>
      </p:sp>
      <p:sp>
        <p:nvSpPr>
          <p:cNvPr id="29" name="Text 27"/>
          <p:cNvSpPr txBox="1"/>
          <p:nvPr/>
        </p:nvSpPr>
        <p:spPr>
          <a:xfrm>
            <a:off x="452628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Budget updates within 60 seconds</a:t>
            </a:r>
            <a:endParaRPr lang="en-US" sz="1500"/>
          </a:p>
        </p:txBody>
      </p:sp>
      <p:sp>
        <p:nvSpPr>
          <p:cNvPr id="30" name="Shape 28"/>
          <p:cNvSpPr/>
          <p:nvPr/>
        </p:nvSpPr>
        <p:spPr>
          <a:xfrm>
            <a:off x="7406640" y="3867912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297680" y="457200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452628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FR-008</a:t>
            </a:r>
            <a:endParaRPr lang="en-US" sz="1300"/>
          </a:p>
        </p:txBody>
      </p:sp>
      <p:sp>
        <p:nvSpPr>
          <p:cNvPr id="33" name="Text 31"/>
          <p:cNvSpPr txBox="1"/>
          <p:nvPr/>
        </p:nvSpPr>
        <p:spPr>
          <a:xfrm>
            <a:off x="452628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Task burn: warn 80%, error 100%</a:t>
            </a:r>
            <a:endParaRPr lang="en-US" sz="1500"/>
          </a:p>
        </p:txBody>
      </p:sp>
      <p:sp>
        <p:nvSpPr>
          <p:cNvPr id="34" name="Shape 32"/>
          <p:cNvSpPr/>
          <p:nvPr/>
        </p:nvSpPr>
        <p:spPr>
          <a:xfrm>
            <a:off x="7406640" y="4919472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046720" y="141732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8275320" y="1545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FR-009</a:t>
            </a:r>
            <a:endParaRPr lang="en-US" sz="1300"/>
          </a:p>
        </p:txBody>
      </p:sp>
      <p:sp>
        <p:nvSpPr>
          <p:cNvPr id="37" name="Text 35"/>
          <p:cNvSpPr txBox="1"/>
          <p:nvPr/>
        </p:nvSpPr>
        <p:spPr>
          <a:xfrm>
            <a:off x="827532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Alerts at 75, 90 and 100%</a:t>
            </a:r>
            <a:endParaRPr lang="en-US" sz="1500"/>
          </a:p>
        </p:txBody>
      </p:sp>
      <p:sp>
        <p:nvSpPr>
          <p:cNvPr id="38" name="Shape 36"/>
          <p:cNvSpPr/>
          <p:nvPr/>
        </p:nvSpPr>
        <p:spPr>
          <a:xfrm>
            <a:off x="11155680" y="1764792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046720" y="246888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827532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FR-010</a:t>
            </a:r>
            <a:endParaRPr lang="en-US" sz="1300"/>
          </a:p>
        </p:txBody>
      </p:sp>
      <p:sp>
        <p:nvSpPr>
          <p:cNvPr id="41" name="Text 39"/>
          <p:cNvSpPr txBox="1"/>
          <p:nvPr/>
        </p:nvSpPr>
        <p:spPr>
          <a:xfrm>
            <a:off x="827532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Invoices for Fixed, T&amp;M, Retainer</a:t>
            </a:r>
            <a:endParaRPr lang="en-US" sz="1500"/>
          </a:p>
        </p:txBody>
      </p:sp>
      <p:sp>
        <p:nvSpPr>
          <p:cNvPr id="42" name="Shape 40"/>
          <p:cNvSpPr/>
          <p:nvPr/>
        </p:nvSpPr>
        <p:spPr>
          <a:xfrm>
            <a:off x="11155680" y="2816352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046720" y="352044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8275320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FR-011</a:t>
            </a:r>
            <a:endParaRPr lang="en-US" sz="1300"/>
          </a:p>
        </p:txBody>
      </p:sp>
      <p:sp>
        <p:nvSpPr>
          <p:cNvPr id="45" name="Text 43"/>
          <p:cNvSpPr txBox="1"/>
          <p:nvPr/>
        </p:nvSpPr>
        <p:spPr>
          <a:xfrm>
            <a:off x="827532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Invoice lifecycle, no double billing</a:t>
            </a:r>
            <a:endParaRPr lang="en-US" sz="1500"/>
          </a:p>
        </p:txBody>
      </p:sp>
      <p:sp>
        <p:nvSpPr>
          <p:cNvPr id="46" name="Shape 44"/>
          <p:cNvSpPr/>
          <p:nvPr/>
        </p:nvSpPr>
        <p:spPr>
          <a:xfrm>
            <a:off x="11155680" y="386791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046720" y="457200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8275320" y="4700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</a:rPr>
              <a:t>FR-012</a:t>
            </a:r>
            <a:endParaRPr lang="en-US" sz="1300"/>
          </a:p>
        </p:txBody>
      </p:sp>
      <p:sp>
        <p:nvSpPr>
          <p:cNvPr id="49" name="Text 47"/>
          <p:cNvSpPr txBox="1"/>
          <p:nvPr/>
        </p:nvSpPr>
        <p:spPr>
          <a:xfrm>
            <a:off x="827532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Row-level access and audit log</a:t>
            </a:r>
            <a:endParaRPr lang="en-US" sz="1500"/>
          </a:p>
        </p:txBody>
      </p:sp>
      <p:sp>
        <p:nvSpPr>
          <p:cNvPr id="50" name="Shape 48"/>
          <p:cNvSpPr/>
          <p:nvPr/>
        </p:nvSpPr>
        <p:spPr>
          <a:xfrm>
            <a:off x="11155680" y="4919472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 txBox="1"/>
          <p:nvPr/>
        </p:nvSpPr>
        <p:spPr>
          <a:xfrm>
            <a:off x="54864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accent4"/>
                </a:solidFill>
              </a:rPr>
              <a:t>Critical (10): must have for go-live    </a:t>
            </a:r>
            <a:r>
              <a:rPr lang="en-US" sz="1400" b="1">
                <a:solidFill>
                  <a:schemeClr val="accent2"/>
                </a:solidFill>
              </a:rPr>
              <a:t>High (2): needed in first release</a:t>
            </a:r>
            <a:endParaRPr lang="en-US" sz="140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Fiori UI requirements</a:t>
            </a:r>
            <a:endParaRPr lang="en-US" sz="34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434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Screen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Template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Key elements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F1B2D"/>
                          </a:solidFill>
                        </a:rPr>
                        <a:t>Manager Home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B63CE"/>
                          </a:solidFill>
                        </a:rPr>
                        <a:t>Analytical List Page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KPI cards, smart table with filters, drill-down to project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F1B2D"/>
                          </a:solidFill>
                        </a:rPr>
                        <a:t>Project Detail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B63CE"/>
                          </a:solidFill>
                        </a:rPr>
                        <a:t>Object Page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Header with code, client, status, budget health; facets for Budget, Milestones and Tasks, Timesheets, Invoices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F1B2D"/>
                          </a:solidFill>
                        </a:rPr>
                        <a:t>My Timesheet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B63CE"/>
                          </a:solidFill>
                        </a:rPr>
                        <a:t>Object Page + actions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Weekly task-by-day grid, billable toggle, Save Draft and Submit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F1B2D"/>
                          </a:solidFill>
                        </a:rPr>
                        <a:t>Timesheet Approvals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B63CE"/>
                          </a:solidFill>
                        </a:rPr>
                        <a:t>List Report + Object Page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Filter by employee, project, week; Approve and Reject with mandatory reason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0F1B2D"/>
                          </a:solidFill>
                        </a:rPr>
                        <a:t>Billing Workbench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B63CE"/>
                          </a:solidFill>
                        </a:rPr>
                        <a:t>ALP + Object Page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0F1B2D"/>
                          </a:solidFill>
                        </a:rPr>
                        <a:t>KPI cards, Generate Invoice, Issue and Mark Paid</a:t>
                      </a:r>
                      <a:endParaRPr lang="en-US" sz="150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Fiori screens: manager</a:t>
            </a:r>
            <a:endParaRPr lang="en-US" sz="3400"/>
          </a:p>
        </p:txBody>
      </p:sp>
      <p:pic>
        <p:nvPicPr>
          <p:cNvPr id="3" name="Image 0" descr="Manager 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85" y="1910702"/>
            <a:ext cx="5486400" cy="3339548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4" name="Image 1" descr="Project deta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35180"/>
            <a:ext cx="5486400" cy="351332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5440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Manager Home (ALP): </a:t>
            </a:r>
            <a:r>
              <a:rPr lang="en-US" sz="1500">
                <a:solidFill>
                  <a:schemeClr val="tx1"/>
                </a:solidFill>
              </a:rPr>
              <a:t>KPI cards, filters, budget burn per project</a:t>
            </a:r>
            <a:endParaRPr lang="en-US" sz="1500"/>
          </a:p>
        </p:txBody>
      </p:sp>
      <p:sp>
        <p:nvSpPr>
          <p:cNvPr id="6" name="Text 2"/>
          <p:cNvSpPr txBox="1"/>
          <p:nvPr/>
        </p:nvSpPr>
        <p:spPr>
          <a:xfrm>
            <a:off x="6172200" y="5440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Project Detail (Object Page): </a:t>
            </a:r>
            <a:r>
              <a:rPr lang="en-US" sz="1500">
                <a:solidFill>
                  <a:schemeClr val="tx1"/>
                </a:solidFill>
              </a:rPr>
              <a:t>budget health, milestones, task burn, Recalculate Budget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Fiori screens: timesheets</a:t>
            </a:r>
            <a:endParaRPr lang="en-US" sz="3400"/>
          </a:p>
        </p:txBody>
      </p:sp>
      <p:pic>
        <p:nvPicPr>
          <p:cNvPr id="3" name="Image 0" descr="My time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9468"/>
            <a:ext cx="5486400" cy="3084745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4" name="Image 1" descr="Timesheet approva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93760"/>
            <a:ext cx="5486400" cy="2996159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5440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My Timesheet: </a:t>
            </a:r>
            <a:r>
              <a:rPr lang="en-US" sz="1500">
                <a:solidFill>
                  <a:schemeClr val="tx1"/>
                </a:solidFill>
              </a:rPr>
              <a:t>weekly grid, billable toggle, task burn, Save Draft and Submit</a:t>
            </a:r>
            <a:endParaRPr lang="en-US" sz="1500"/>
          </a:p>
        </p:txBody>
      </p:sp>
      <p:sp>
        <p:nvSpPr>
          <p:cNvPr id="6" name="Text 2"/>
          <p:cNvSpPr txBox="1"/>
          <p:nvPr/>
        </p:nvSpPr>
        <p:spPr>
          <a:xfrm>
            <a:off x="6172200" y="5440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Approvals: </a:t>
            </a:r>
            <a:r>
              <a:rPr lang="en-US" sz="1500">
                <a:solidFill>
                  <a:schemeClr val="tx1"/>
                </a:solidFill>
              </a:rPr>
              <a:t>bulk approve; rejection requires a reason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Fiori screens: billing</a:t>
            </a:r>
            <a:endParaRPr lang="en-US" sz="3400"/>
          </a:p>
        </p:txBody>
      </p:sp>
      <p:pic>
        <p:nvPicPr>
          <p:cNvPr id="3" name="Image 0" descr="Billing workben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79640"/>
            <a:ext cx="6766560" cy="45388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68096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</a:rPr>
              <a:t>Billing Workbench</a:t>
            </a:r>
            <a:endParaRPr lang="en-US" sz="2000"/>
          </a:p>
        </p:txBody>
      </p:sp>
      <p:sp>
        <p:nvSpPr>
          <p:cNvPr id="5" name="Text 2"/>
          <p:cNvSpPr txBox="1"/>
          <p:nvPr/>
        </p:nvSpPr>
        <p:spPr>
          <a:xfrm>
            <a:off x="7680960" y="20116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</a:rPr>
              <a:t>KPI cards: unbilled hours, draft invoices, overdue amount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</a:rPr>
              <a:t>Generate Invoice from approved hours</a:t>
            </a:r>
            <a:endParaRPr lang="en-US" sz="15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</a:rPr>
              <a:t>Issue and Mark Paid actions</a:t>
            </a:r>
            <a:endParaRPr lang="en-US" sz="1500"/>
          </a:p>
        </p:txBody>
      </p:sp>
      <p:sp>
        <p:nvSpPr>
          <p:cNvPr id="6" name="Shape 3"/>
          <p:cNvSpPr/>
          <p:nvPr/>
        </p:nvSpPr>
        <p:spPr>
          <a:xfrm>
            <a:off x="7680960" y="438912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5B6B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680960" y="4389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chemeClr val="bg1"/>
                </a:solidFill>
              </a:rPr>
              <a:t>Draft</a:t>
            </a:r>
            <a:endParaRPr lang="en-US" sz="1500"/>
          </a:p>
        </p:txBody>
      </p:sp>
      <p:sp>
        <p:nvSpPr>
          <p:cNvPr id="8" name="Shape 5"/>
          <p:cNvSpPr/>
          <p:nvPr/>
        </p:nvSpPr>
        <p:spPr>
          <a:xfrm>
            <a:off x="9006840" y="438912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2A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9006840" y="4389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chemeClr val="tx1"/>
                </a:solidFill>
              </a:rPr>
              <a:t>Issued</a:t>
            </a:r>
            <a:endParaRPr lang="en-US" sz="1500"/>
          </a:p>
        </p:txBody>
      </p:sp>
      <p:sp>
        <p:nvSpPr>
          <p:cNvPr id="10" name="Shape 7"/>
          <p:cNvSpPr/>
          <p:nvPr/>
        </p:nvSpPr>
        <p:spPr>
          <a:xfrm>
            <a:off x="10332720" y="438912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1B9E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10332720" y="4389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chemeClr val="bg1"/>
                </a:solidFill>
              </a:rPr>
              <a:t>Paid</a:t>
            </a:r>
            <a:endParaRPr lang="en-US" sz="1500"/>
          </a:p>
        </p:txBody>
      </p:sp>
      <p:sp>
        <p:nvSpPr>
          <p:cNvPr id="12" name="Text 9"/>
          <p:cNvSpPr txBox="1"/>
          <p:nvPr/>
        </p:nvSpPr>
        <p:spPr>
          <a:xfrm>
            <a:off x="7680960" y="5120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chemeClr val="accent6"/>
                </a:solidFill>
              </a:rPr>
              <a:t>Invoiced timesheets are locked; no hour is billed twice.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2"/>
                </a:solidFill>
              </a:rPr>
              <a:t>Non-functional requirements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3347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 s</a:t>
            </a:r>
            <a:endParaRPr lang="en-US" sz="420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dashboard load, p95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3364992" y="1417320"/>
            <a:ext cx="263347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639312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4200"/>
          </a:p>
        </p:txBody>
      </p:sp>
      <p:sp>
        <p:nvSpPr>
          <p:cNvPr id="8" name="Text 6"/>
          <p:cNvSpPr txBox="1"/>
          <p:nvPr/>
        </p:nvSpPr>
        <p:spPr>
          <a:xfrm>
            <a:off x="3639312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peak concurrent users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6181344" y="1417320"/>
            <a:ext cx="263347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55664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4200"/>
          </a:p>
        </p:txBody>
      </p:sp>
      <p:sp>
        <p:nvSpPr>
          <p:cNvPr id="11" name="Text 9"/>
          <p:cNvSpPr txBox="1"/>
          <p:nvPr/>
        </p:nvSpPr>
        <p:spPr>
          <a:xfrm>
            <a:off x="6455664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business-hours uptime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8997696" y="1417320"/>
            <a:ext cx="263347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9272016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</a:t>
            </a:r>
            <a:endParaRPr lang="en-US" sz="4200"/>
          </a:p>
        </p:txBody>
      </p:sp>
      <p:sp>
        <p:nvSpPr>
          <p:cNvPr id="14" name="Text 12"/>
          <p:cNvSpPr txBox="1"/>
          <p:nvPr/>
        </p:nvSpPr>
        <p:spPr>
          <a:xfrm>
            <a:off x="9272016" y="2423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timesheet entries supported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4864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3566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</a:rPr>
              <a:t>Roll-up speed</a:t>
            </a:r>
            <a:endParaRPr lang="en-US" sz="1700"/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Budget roll-up within 60 seconds of submission (NFR-005)</a:t>
            </a:r>
            <a:endParaRPr lang="en-US" sz="1700"/>
          </a:p>
        </p:txBody>
      </p:sp>
      <p:sp>
        <p:nvSpPr>
          <p:cNvPr id="17" name="Shape 15"/>
          <p:cNvSpPr/>
          <p:nvPr/>
        </p:nvSpPr>
        <p:spPr>
          <a:xfrm>
            <a:off x="6126480" y="3474720"/>
            <a:ext cx="54864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00800" y="3566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</a:rPr>
              <a:t>Delivery</a:t>
            </a:r>
            <a:endParaRPr lang="en-US" sz="1700"/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MTA: psa-db, psa-srv, psa-app; DEV, QAS, PROD via SAP CI/CD (NFR-006)</a:t>
            </a:r>
            <a:endParaRPr lang="en-US" sz="170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54864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822960" y="49834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</a:rPr>
              <a:t>Security</a:t>
            </a:r>
            <a:endParaRPr lang="en-US" sz="1700"/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XSUAA OAuth 2.0, SAML SSO, row-level access, audit trail</a:t>
            </a:r>
            <a:endParaRPr lang="en-US" sz="1700"/>
          </a:p>
        </p:txBody>
      </p:sp>
      <p:sp>
        <p:nvSpPr>
          <p:cNvPr id="21" name="Shape 19"/>
          <p:cNvSpPr/>
          <p:nvPr/>
        </p:nvSpPr>
        <p:spPr>
          <a:xfrm>
            <a:off x="6126480" y="4892040"/>
            <a:ext cx="54864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00800" y="49834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</a:rPr>
              <a:t>Testing</a:t>
            </a:r>
            <a:endParaRPr lang="en-US" sz="1700"/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Unit (Jest), integration (Postman), UI (Fiori), security (pen test)</a:t>
            </a:r>
            <a:endParaRPr lang="en-US" sz="1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bg1"/>
                </a:solidFill>
              </a:rPr>
              <a:t>Conclusion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chemeClr val="accent2"/>
                </a:solidFill>
              </a:rPr>
              <a:t>What PSA delivers</a:t>
            </a:r>
            <a:endParaRPr lang="en-US" sz="220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Live budget burn from task to project</a:t>
            </a:r>
            <a:endParaRPr lang="en-US" sz="18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Alerts before scope creep becomes overrun</a:t>
            </a:r>
            <a:endParaRPr lang="en-US" sz="18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Invoices straight from approved hours</a:t>
            </a:r>
            <a:endParaRPr lang="en-US" sz="18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Role-based, audited, single source of truth</a:t>
            </a:r>
            <a:endParaRPr lang="en-US" sz="1800"/>
          </a:p>
        </p:txBody>
      </p:sp>
      <p:sp>
        <p:nvSpPr>
          <p:cNvPr id="5" name="Text 3"/>
          <p:cNvSpPr txBox="1"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chemeClr val="accent2"/>
                </a:solidFill>
              </a:rPr>
              <a:t>Next steps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6400800" y="2103120"/>
            <a:ext cx="731520" cy="731520"/>
          </a:xfrm>
          <a:prstGeom prst="ellipse">
            <a:avLst/>
          </a:prstGeom>
          <a:solidFill>
            <a:srgbClr val="1B9E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365" y="227868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0" y="2103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Approve FRD v1</a:t>
            </a:r>
            <a:endParaRPr lang="en-US" sz="1800"/>
          </a:p>
        </p:txBody>
      </p:sp>
      <p:sp>
        <p:nvSpPr>
          <p:cNvPr id="9" name="Shape 6"/>
          <p:cNvSpPr/>
          <p:nvPr/>
        </p:nvSpPr>
        <p:spPr>
          <a:xfrm>
            <a:off x="6400800" y="3200400"/>
            <a:ext cx="731520" cy="731520"/>
          </a:xfrm>
          <a:prstGeom prst="ellipse">
            <a:avLst/>
          </a:prstGeom>
          <a:solidFill>
            <a:srgbClr val="F2A3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FaPlu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365" y="33759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3200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Confirm HR and finance integration targets</a:t>
            </a:r>
            <a:endParaRPr lang="en-US" sz="1800"/>
          </a:p>
        </p:txBody>
      </p:sp>
      <p:sp>
        <p:nvSpPr>
          <p:cNvPr id="12" name="Shape 8"/>
          <p:cNvSpPr/>
          <p:nvPr/>
        </p:nvSpPr>
        <p:spPr>
          <a:xfrm>
            <a:off x="6400800" y="4297680"/>
            <a:ext cx="731520" cy="731520"/>
          </a:xfrm>
          <a:prstGeom prst="ellipse">
            <a:avLst/>
          </a:prstGeom>
          <a:solidFill>
            <a:srgbClr val="0B63C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FaRoc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365" y="447324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Start CAP + Fiori build; plan Phase 2</a:t>
            </a:r>
            <a:endParaRPr lang="en-US" sz="1800"/>
          </a:p>
        </p:txBody>
      </p:sp>
      <p:sp>
        <p:nvSpPr>
          <p:cNvPr id="15" name="Text 10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>
                <a:solidFill>
                  <a:schemeClr val="bg2"/>
                </a:solidFill>
              </a:rPr>
              <a:t>Thank you | Questions?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SA Navy">
  <a:themeElements>
    <a:clrScheme name="PSA Navy">
      <a:dk1>
        <a:srgbClr val="0F1B2D"/>
      </a:dk1>
      <a:lt1>
        <a:srgbClr val="FFFFFF"/>
      </a:lt1>
      <a:dk2>
        <a:srgbClr val="14284B"/>
      </a:dk2>
      <a:lt2>
        <a:srgbClr val="EEF2F7"/>
      </a:lt2>
      <a:accent1>
        <a:srgbClr val="0B63CE"/>
      </a:accent1>
      <a:accent2>
        <a:srgbClr val="F2A33A"/>
      </a:accent2>
      <a:accent3>
        <a:srgbClr val="1B9E77"/>
      </a:accent3>
      <a:accent4>
        <a:srgbClr val="D64545"/>
      </a:accent4>
      <a:accent5>
        <a:srgbClr val="6B4FA3"/>
      </a:accent5>
      <a:accent6>
        <a:srgbClr val="5B6B82"/>
      </a:accent6>
      <a:hlink>
        <a:srgbClr val="0B63CE"/>
      </a:hlink>
      <a:folHlink>
        <a:srgbClr val="6B4FA3"/>
      </a:folHlink>
    </a:clrScheme>
    <a:fontScheme name="PSA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4450DF66B8408DAA0CD155F744E8" ma:contentTypeVersion="9" ma:contentTypeDescription="Create a new document." ma:contentTypeScope="" ma:versionID="e5b9797a5732a007274964a8884a1f78">
  <xsd:schema xmlns:xsd="http://www.w3.org/2001/XMLSchema" xmlns:xs="http://www.w3.org/2001/XMLSchema" xmlns:p="http://schemas.microsoft.com/office/2006/metadata/properties" xmlns:ns2="e8c243ab-fd3e-4c5f-bc8b-7909a811c42c" xmlns:ns3="ed2124ab-e2bc-43d3-b097-cc6cede1922d" targetNamespace="http://schemas.microsoft.com/office/2006/metadata/properties" ma:root="true" ma:fieldsID="34e69f94328b1bf01a24c894bc1450cb" ns2:_="" ns3:_="">
    <xsd:import namespace="e8c243ab-fd3e-4c5f-bc8b-7909a811c42c"/>
    <xsd:import namespace="ed2124ab-e2bc-43d3-b097-cc6cede192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c243ab-fd3e-4c5f-bc8b-7909a811c4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124ab-e2bc-43d3-b097-cc6cede1922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d99091-5b16-44fd-91d1-2064edc67dbd}" ma:internalName="TaxCatchAll" ma:showField="CatchAllData" ma:web="ed2124ab-e2bc-43d3-b097-cc6cede192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c243ab-fd3e-4c5f-bc8b-7909a811c42c">
      <Terms xmlns="http://schemas.microsoft.com/office/infopath/2007/PartnerControls"/>
    </lcf76f155ced4ddcb4097134ff3c332f>
    <TaxCatchAll xmlns="ed2124ab-e2bc-43d3-b097-cc6cede1922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B2DA2C-5931-4F73-9928-8CC7322DFA1D}">
  <ds:schemaRefs>
    <ds:schemaRef ds:uri="e8c243ab-fd3e-4c5f-bc8b-7909a811c42c"/>
    <ds:schemaRef ds:uri="ed2124ab-e2bc-43d3-b097-cc6cede192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513EBE3-5977-446E-9B76-52D2BC03348B}">
  <ds:schemaRefs>
    <ds:schemaRef ds:uri="e8c243ab-fd3e-4c5f-bc8b-7909a811c42c"/>
    <ds:schemaRef ds:uri="ed2124ab-e2bc-43d3-b097-cc6cede1922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BA72416-F051-4440-A97F-D3CFE1E2D9B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PSA Navy</vt:lpstr>
      <vt:lpstr>Enterprise PSA on SAP BTP</vt:lpstr>
      <vt:lpstr>Business problem</vt:lpstr>
      <vt:lpstr>Objectives and scope</vt:lpstr>
      <vt:lpstr>Solution architecture</vt:lpstr>
      <vt:lpstr>Business roles and actors</vt:lpstr>
      <vt:lpstr>ER diagram: 11 entities</vt:lpstr>
      <vt:lpstr>Key request flows</vt:lpstr>
      <vt:lpstr>Actions and functions</vt:lpstr>
      <vt:lpstr>Functional requirements</vt:lpstr>
      <vt:lpstr>Fiori UI requirements</vt:lpstr>
      <vt:lpstr>Fiori screens: manager</vt:lpstr>
      <vt:lpstr>Fiori screens: timesheets</vt:lpstr>
      <vt:lpstr>Fiori screens: billing</vt:lpstr>
      <vt:lpstr>Non-functional requirements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PSA on SAP BTP</dc:title>
  <dc:subject>PptxGenJS Presentation</dc:subject>
  <dc:creator>Team 1 - Business Analysis</dc:creator>
  <cp:revision>1</cp:revision>
  <dcterms:created xsi:type="dcterms:W3CDTF">2026-10-09T09:34:41Z</dcterms:created>
  <dcterms:modified xsi:type="dcterms:W3CDTF">2026-10-13T08:56:38Z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0x010100FBE54450DF66B8408DAA0CD155F744E8</vt:lpwstr>
  </property>
  <property fmtid="{D5CDD505-2E9C-101B-9397-08002B2CF9AE}" pid="3" name="MediaServiceImageTags">
    <vt:lpwstr/>
  </property>
</Properties>
</file>